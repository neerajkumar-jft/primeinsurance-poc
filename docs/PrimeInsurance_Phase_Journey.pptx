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Good morning. Over the next 15 minutes I'm going to walk you through the PrimeInsurance journey. Four steps: the problem we were asked to solve, what we built, where it stands today, and what comes next. Business lens — no deep technical detours. Let's dive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Three people, three mornings, three failures. The compliance officer couldn't tell the regulator how many customers PrimeInsurance had — same person duplicated across six acquired systems, count inflated twelve percent, ninety-day deadline. The claims manager had an eighteen-day backlog against a seven-day industry benchmark, because adjusters had to cross-reference three disconnected systems per claim. And the sales head watched cars sit ninety days in one region while the same models sold in two weeks in another. Everything we built traces back to one of these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We built this in three capability layers, each on top of the last. First, one source of truth — 14 raw files from six regional systems became one clean star schema, with 3,605 raw customer rows deduplicated down to 1,604 real people, and quality rules catching every bad record. Second, AI assistants — one per business audience: plain-English data quality for compliance, 128 pre-scored fraud cases with briefs, two-second policy lookups for adjusters, and AI-written narratives for executives. Third, we put it directly in the users' hands: a live database, a single app screen, a plain-English question box. Nothing was thrown away between layers. Every piece still runs.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 Now look at the same three people this morning. Compliance opens the app and sees 1,604 customers, with the deduplication methodology visible behind it. Her answer to the regulator takes seconds. The claims manager sees 276 rejected claims and 128 fraud flags on the same screen before his standup — no waiting for a weekly report. And the sales head opens the app and sees 176 aging cars, each labeled Fresh, Watch, Stale, or Critical. She knows which ones to act on before the discount window closes. Three failures, three answers. Same three people, different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 This is the app. One URL, one screen. Top: four numbers the business cares about. 1,604 unique customers — that's compliance's answer. 1,000 total claims with 276 rejected — that's the claims manager's backlog signal. 176 aging inventory — that's the sales head's action list. Below: a plain-English question box. The user types whatever they want to know, and the AI answers with data. No SQL, no dashboard training, no navigating through tabs. This is the first piece of the POC where a business user can act without calling engineering. That's the whole 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Three kinds of evidence. First, data parity: every number matches exactly between our development environment and production. 1,604 customers, 1,000 claims, 128 fraud flags — identical row counts. The pipeline is reproducible. Second, we tested the natural-language layer with ten real business questions. Ten out of ten answered, zero wrong, seven direct, three polite clarifications. And third — the proof I'm proudest of — the trick question. We asked about claim processing time, which our source data can't answer because the dates are corrupted. The AI correctly refused, quoting our domain rules. That's the strongest proof it's actually steered, not hallucinating.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 min] What's next. Seven more operational plays sit on the same foundation, ready to ship in sequence. Claims Triage Workbench goes after the eighteen-day backlog directly — a live case queue with AI briefs. Customer Golden Record turns our dedup into a live service so the regulator's question stays answered forever. A regulator-facing Genie space with jurisdictional row-level security. An inventory marketplace for cross-regional transfers. Real-time fraud case management, renewal intelligence, and a call-center copilot. Nothing on this list requires new infrastructure. Every piece builds on what we showed you today. Thank you —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972800" cy="457200"/>
          </a:xfrm>
          <a:prstGeom prst="rect">
            <a:avLst/>
          </a:prstGeom>
          <a:noFill/>
        </p:spPr>
        <p:txBody>
          <a:bodyPr wrap="square" lIns="0" rIns="0" tIns="0" bIns="0" anchor="t">
            <a:spAutoFit/>
          </a:bodyPr>
          <a:lstStyle/>
          <a:p>
            <a:pPr algn="l"/>
            <a:r>
              <a:rPr sz="1300" b="1">
                <a:solidFill>
                  <a:srgbClr val="C8D4E8"/>
                </a:solidFill>
                <a:latin typeface="Helvetica Neue"/>
              </a:rPr>
              <a:t>PRIMEINSURANCE DATA INTELLIGENCE PLATFORM</a:t>
            </a:r>
          </a:p>
        </p:txBody>
      </p:sp>
      <p:sp>
        <p:nvSpPr>
          <p:cNvPr id="4" name="TextBox 3"/>
          <p:cNvSpPr txBox="1"/>
          <p:nvPr/>
        </p:nvSpPr>
        <p:spPr>
          <a:xfrm>
            <a:off x="731520" y="1463040"/>
            <a:ext cx="10972800" cy="1188720"/>
          </a:xfrm>
          <a:prstGeom prst="rect">
            <a:avLst/>
          </a:prstGeom>
          <a:noFill/>
        </p:spPr>
        <p:txBody>
          <a:bodyPr wrap="square" lIns="0" rIns="0" tIns="0" bIns="0" anchor="t">
            <a:spAutoFit/>
          </a:bodyPr>
          <a:lstStyle/>
          <a:p>
            <a:pPr algn="l"/>
            <a:r>
              <a:rPr sz="5200" b="1">
                <a:solidFill>
                  <a:srgbClr val="FFFFFF"/>
                </a:solidFill>
                <a:latin typeface="Helvetica Neue"/>
              </a:rPr>
              <a:t>From data to decisions</a:t>
            </a:r>
          </a:p>
        </p:txBody>
      </p:sp>
      <p:sp>
        <p:nvSpPr>
          <p:cNvPr id="5" name="TextBox 4"/>
          <p:cNvSpPr txBox="1"/>
          <p:nvPr/>
        </p:nvSpPr>
        <p:spPr>
          <a:xfrm>
            <a:off x="731520" y="2743200"/>
            <a:ext cx="10972800" cy="457200"/>
          </a:xfrm>
          <a:prstGeom prst="rect">
            <a:avLst/>
          </a:prstGeom>
          <a:noFill/>
        </p:spPr>
        <p:txBody>
          <a:bodyPr wrap="square" lIns="0" rIns="0" tIns="0" bIns="0" anchor="t">
            <a:spAutoFit/>
          </a:bodyPr>
          <a:lstStyle/>
          <a:p>
            <a:pPr algn="l"/>
            <a:r>
              <a:rPr sz="1800" b="0">
                <a:solidFill>
                  <a:srgbClr val="C8D4E8"/>
                </a:solidFill>
                <a:latin typeface="Helvetica Neue"/>
              </a:rPr>
              <a:t>A 15-minute walk through the journey</a:t>
            </a:r>
          </a:p>
        </p:txBody>
      </p:sp>
      <p:sp>
        <p:nvSpPr>
          <p:cNvPr id="6" name="Rectangle 5"/>
          <p:cNvSpPr/>
          <p:nvPr/>
        </p:nvSpPr>
        <p:spPr>
          <a:xfrm>
            <a:off x="731520" y="3840480"/>
            <a:ext cx="2545003" cy="1463040"/>
          </a:xfrm>
          <a:prstGeom prst="rect">
            <a:avLst/>
          </a:prstGeom>
          <a:solidFill>
            <a:srgbClr val="174E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977640"/>
            <a:ext cx="2179243" cy="274320"/>
          </a:xfrm>
          <a:prstGeom prst="rect">
            <a:avLst/>
          </a:prstGeom>
          <a:noFill/>
        </p:spPr>
        <p:txBody>
          <a:bodyPr wrap="square" lIns="0" rIns="0" tIns="0" bIns="0" anchor="t">
            <a:spAutoFit/>
          </a:bodyPr>
          <a:lstStyle/>
          <a:p>
            <a:pPr algn="l"/>
            <a:r>
              <a:rPr sz="1000" b="1">
                <a:solidFill>
                  <a:srgbClr val="C8D4E8"/>
                </a:solidFill>
                <a:latin typeface="Helvetica Neue"/>
              </a:rPr>
              <a:t>01</a:t>
            </a:r>
          </a:p>
        </p:txBody>
      </p:sp>
      <p:sp>
        <p:nvSpPr>
          <p:cNvPr id="8" name="TextBox 7"/>
          <p:cNvSpPr txBox="1"/>
          <p:nvPr/>
        </p:nvSpPr>
        <p:spPr>
          <a:xfrm>
            <a:off x="914400" y="4206240"/>
            <a:ext cx="2179243" cy="365760"/>
          </a:xfrm>
          <a:prstGeom prst="rect">
            <a:avLst/>
          </a:prstGeom>
          <a:noFill/>
        </p:spPr>
        <p:txBody>
          <a:bodyPr wrap="square" lIns="0" rIns="0" tIns="0" bIns="0" anchor="t">
            <a:spAutoFit/>
          </a:bodyPr>
          <a:lstStyle/>
          <a:p>
            <a:pPr algn="l"/>
            <a:r>
              <a:rPr sz="1200" b="1">
                <a:solidFill>
                  <a:srgbClr val="FFFFFF"/>
                </a:solidFill>
                <a:latin typeface="Helvetica Neue"/>
              </a:rPr>
              <a:t>THE PROBLEM</a:t>
            </a:r>
          </a:p>
        </p:txBody>
      </p:sp>
      <p:sp>
        <p:nvSpPr>
          <p:cNvPr id="9" name="TextBox 8"/>
          <p:cNvSpPr txBox="1"/>
          <p:nvPr/>
        </p:nvSpPr>
        <p:spPr>
          <a:xfrm>
            <a:off x="914400" y="4617720"/>
            <a:ext cx="2179243" cy="548640"/>
          </a:xfrm>
          <a:prstGeom prst="rect">
            <a:avLst/>
          </a:prstGeom>
          <a:noFill/>
        </p:spPr>
        <p:txBody>
          <a:bodyPr wrap="square" lIns="0" rIns="0" tIns="0" bIns="0" anchor="t">
            <a:spAutoFit/>
          </a:bodyPr>
          <a:lstStyle/>
          <a:p>
            <a:pPr algn="l"/>
            <a:r>
              <a:rPr sz="1100" b="0">
                <a:solidFill>
                  <a:srgbClr val="C8D4E8"/>
                </a:solidFill>
                <a:latin typeface="Helvetica Neue"/>
              </a:rPr>
              <a:t>Three business failures</a:t>
            </a:r>
          </a:p>
        </p:txBody>
      </p:sp>
      <p:sp>
        <p:nvSpPr>
          <p:cNvPr id="10" name="Right Arrow 9"/>
          <p:cNvSpPr/>
          <p:nvPr/>
        </p:nvSpPr>
        <p:spPr>
          <a:xfrm>
            <a:off x="3294811" y="4498848"/>
            <a:ext cx="146304" cy="146304"/>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59403" y="3840480"/>
            <a:ext cx="2545003" cy="1463040"/>
          </a:xfrm>
          <a:prstGeom prst="rect">
            <a:avLst/>
          </a:prstGeom>
          <a:solidFill>
            <a:srgbClr val="174E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42283" y="3977640"/>
            <a:ext cx="2179243" cy="274320"/>
          </a:xfrm>
          <a:prstGeom prst="rect">
            <a:avLst/>
          </a:prstGeom>
          <a:noFill/>
        </p:spPr>
        <p:txBody>
          <a:bodyPr wrap="square" lIns="0" rIns="0" tIns="0" bIns="0" anchor="t">
            <a:spAutoFit/>
          </a:bodyPr>
          <a:lstStyle/>
          <a:p>
            <a:pPr algn="l"/>
            <a:r>
              <a:rPr sz="1000" b="1">
                <a:solidFill>
                  <a:srgbClr val="C8D4E8"/>
                </a:solidFill>
                <a:latin typeface="Helvetica Neue"/>
              </a:rPr>
              <a:t>02</a:t>
            </a:r>
          </a:p>
        </p:txBody>
      </p:sp>
      <p:sp>
        <p:nvSpPr>
          <p:cNvPr id="13" name="TextBox 12"/>
          <p:cNvSpPr txBox="1"/>
          <p:nvPr/>
        </p:nvSpPr>
        <p:spPr>
          <a:xfrm>
            <a:off x="3642283" y="4206240"/>
            <a:ext cx="2179243" cy="365760"/>
          </a:xfrm>
          <a:prstGeom prst="rect">
            <a:avLst/>
          </a:prstGeom>
          <a:noFill/>
        </p:spPr>
        <p:txBody>
          <a:bodyPr wrap="square" lIns="0" rIns="0" tIns="0" bIns="0" anchor="t">
            <a:spAutoFit/>
          </a:bodyPr>
          <a:lstStyle/>
          <a:p>
            <a:pPr algn="l"/>
            <a:r>
              <a:rPr sz="1200" b="1">
                <a:solidFill>
                  <a:srgbClr val="FFFFFF"/>
                </a:solidFill>
                <a:latin typeface="Helvetica Neue"/>
              </a:rPr>
              <a:t>WHAT WE BUILT</a:t>
            </a:r>
          </a:p>
        </p:txBody>
      </p:sp>
      <p:sp>
        <p:nvSpPr>
          <p:cNvPr id="14" name="TextBox 13"/>
          <p:cNvSpPr txBox="1"/>
          <p:nvPr/>
        </p:nvSpPr>
        <p:spPr>
          <a:xfrm>
            <a:off x="3642283" y="4617720"/>
            <a:ext cx="2179243" cy="548640"/>
          </a:xfrm>
          <a:prstGeom prst="rect">
            <a:avLst/>
          </a:prstGeom>
          <a:noFill/>
        </p:spPr>
        <p:txBody>
          <a:bodyPr wrap="square" lIns="0" rIns="0" tIns="0" bIns="0" anchor="t">
            <a:spAutoFit/>
          </a:bodyPr>
          <a:lstStyle/>
          <a:p>
            <a:pPr algn="l"/>
            <a:r>
              <a:rPr sz="1100" b="0">
                <a:solidFill>
                  <a:srgbClr val="C8D4E8"/>
                </a:solidFill>
                <a:latin typeface="Helvetica Neue"/>
              </a:rPr>
              <a:t>One platform, many assistants</a:t>
            </a:r>
          </a:p>
        </p:txBody>
      </p:sp>
      <p:sp>
        <p:nvSpPr>
          <p:cNvPr id="15" name="Right Arrow 14"/>
          <p:cNvSpPr/>
          <p:nvPr/>
        </p:nvSpPr>
        <p:spPr>
          <a:xfrm>
            <a:off x="6022695" y="4498848"/>
            <a:ext cx="146304" cy="146304"/>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87287" y="3840480"/>
            <a:ext cx="2545003" cy="1463040"/>
          </a:xfrm>
          <a:prstGeom prst="rect">
            <a:avLst/>
          </a:prstGeom>
          <a:solidFill>
            <a:srgbClr val="174E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0167" y="3977640"/>
            <a:ext cx="2179243" cy="274320"/>
          </a:xfrm>
          <a:prstGeom prst="rect">
            <a:avLst/>
          </a:prstGeom>
          <a:noFill/>
        </p:spPr>
        <p:txBody>
          <a:bodyPr wrap="square" lIns="0" rIns="0" tIns="0" bIns="0" anchor="t">
            <a:spAutoFit/>
          </a:bodyPr>
          <a:lstStyle/>
          <a:p>
            <a:pPr algn="l"/>
            <a:r>
              <a:rPr sz="1000" b="1">
                <a:solidFill>
                  <a:srgbClr val="C8D4E8"/>
                </a:solidFill>
                <a:latin typeface="Helvetica Neue"/>
              </a:rPr>
              <a:t>03</a:t>
            </a:r>
          </a:p>
        </p:txBody>
      </p:sp>
      <p:sp>
        <p:nvSpPr>
          <p:cNvPr id="18" name="TextBox 17"/>
          <p:cNvSpPr txBox="1"/>
          <p:nvPr/>
        </p:nvSpPr>
        <p:spPr>
          <a:xfrm>
            <a:off x="6370167" y="4206240"/>
            <a:ext cx="2179243" cy="365760"/>
          </a:xfrm>
          <a:prstGeom prst="rect">
            <a:avLst/>
          </a:prstGeom>
          <a:noFill/>
        </p:spPr>
        <p:txBody>
          <a:bodyPr wrap="square" lIns="0" rIns="0" tIns="0" bIns="0" anchor="t">
            <a:spAutoFit/>
          </a:bodyPr>
          <a:lstStyle/>
          <a:p>
            <a:pPr algn="l"/>
            <a:r>
              <a:rPr sz="1200" b="1">
                <a:solidFill>
                  <a:srgbClr val="FFFFFF"/>
                </a:solidFill>
                <a:latin typeface="Helvetica Neue"/>
              </a:rPr>
              <a:t>WHERE WE ARE</a:t>
            </a:r>
          </a:p>
        </p:txBody>
      </p:sp>
      <p:sp>
        <p:nvSpPr>
          <p:cNvPr id="19" name="TextBox 18"/>
          <p:cNvSpPr txBox="1"/>
          <p:nvPr/>
        </p:nvSpPr>
        <p:spPr>
          <a:xfrm>
            <a:off x="6370167" y="4617720"/>
            <a:ext cx="2179243" cy="548640"/>
          </a:xfrm>
          <a:prstGeom prst="rect">
            <a:avLst/>
          </a:prstGeom>
          <a:noFill/>
        </p:spPr>
        <p:txBody>
          <a:bodyPr wrap="square" lIns="0" rIns="0" tIns="0" bIns="0" anchor="t">
            <a:spAutoFit/>
          </a:bodyPr>
          <a:lstStyle/>
          <a:p>
            <a:pPr algn="l"/>
            <a:r>
              <a:rPr sz="1100" b="0">
                <a:solidFill>
                  <a:srgbClr val="C8D4E8"/>
                </a:solidFill>
                <a:latin typeface="Helvetica Neue"/>
              </a:rPr>
              <a:t>Three answers, live today</a:t>
            </a:r>
          </a:p>
        </p:txBody>
      </p:sp>
      <p:sp>
        <p:nvSpPr>
          <p:cNvPr id="20" name="Right Arrow 19"/>
          <p:cNvSpPr/>
          <p:nvPr/>
        </p:nvSpPr>
        <p:spPr>
          <a:xfrm>
            <a:off x="8750579" y="4498848"/>
            <a:ext cx="146304" cy="146304"/>
          </a:xfrm>
          <a:prstGeom prst="rightArrow">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15171" y="3840480"/>
            <a:ext cx="2545003" cy="1463040"/>
          </a:xfrm>
          <a:prstGeom prst="rect">
            <a:avLst/>
          </a:prstGeom>
          <a:solidFill>
            <a:srgbClr val="174E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051" y="3977640"/>
            <a:ext cx="2179243" cy="274320"/>
          </a:xfrm>
          <a:prstGeom prst="rect">
            <a:avLst/>
          </a:prstGeom>
          <a:noFill/>
        </p:spPr>
        <p:txBody>
          <a:bodyPr wrap="square" lIns="0" rIns="0" tIns="0" bIns="0" anchor="t">
            <a:spAutoFit/>
          </a:bodyPr>
          <a:lstStyle/>
          <a:p>
            <a:pPr algn="l"/>
            <a:r>
              <a:rPr sz="1000" b="1">
                <a:solidFill>
                  <a:srgbClr val="C8D4E8"/>
                </a:solidFill>
                <a:latin typeface="Helvetica Neue"/>
              </a:rPr>
              <a:t>04</a:t>
            </a:r>
          </a:p>
        </p:txBody>
      </p:sp>
      <p:sp>
        <p:nvSpPr>
          <p:cNvPr id="23" name="TextBox 22"/>
          <p:cNvSpPr txBox="1"/>
          <p:nvPr/>
        </p:nvSpPr>
        <p:spPr>
          <a:xfrm>
            <a:off x="9098051" y="4206240"/>
            <a:ext cx="2179243" cy="365760"/>
          </a:xfrm>
          <a:prstGeom prst="rect">
            <a:avLst/>
          </a:prstGeom>
          <a:noFill/>
        </p:spPr>
        <p:txBody>
          <a:bodyPr wrap="square" lIns="0" rIns="0" tIns="0" bIns="0" anchor="t">
            <a:spAutoFit/>
          </a:bodyPr>
          <a:lstStyle/>
          <a:p>
            <a:pPr algn="l"/>
            <a:r>
              <a:rPr sz="1200" b="1">
                <a:solidFill>
                  <a:srgbClr val="FFFFFF"/>
                </a:solidFill>
                <a:latin typeface="Helvetica Neue"/>
              </a:rPr>
              <a:t>WHAT'S NEXT</a:t>
            </a:r>
          </a:p>
        </p:txBody>
      </p:sp>
      <p:sp>
        <p:nvSpPr>
          <p:cNvPr id="24" name="TextBox 23"/>
          <p:cNvSpPr txBox="1"/>
          <p:nvPr/>
        </p:nvSpPr>
        <p:spPr>
          <a:xfrm>
            <a:off x="9098051" y="4617720"/>
            <a:ext cx="2179243" cy="548640"/>
          </a:xfrm>
          <a:prstGeom prst="rect">
            <a:avLst/>
          </a:prstGeom>
          <a:noFill/>
        </p:spPr>
        <p:txBody>
          <a:bodyPr wrap="square" lIns="0" rIns="0" tIns="0" bIns="0" anchor="t">
            <a:spAutoFit/>
          </a:bodyPr>
          <a:lstStyle/>
          <a:p>
            <a:pPr algn="l"/>
            <a:r>
              <a:rPr sz="1100" b="0">
                <a:solidFill>
                  <a:srgbClr val="C8D4E8"/>
                </a:solidFill>
                <a:latin typeface="Helvetica Neue"/>
              </a:rPr>
              <a:t>Scaling to operational plays</a:t>
            </a:r>
          </a:p>
        </p:txBody>
      </p:sp>
      <p:sp>
        <p:nvSpPr>
          <p:cNvPr id="25" name="TextBox 24"/>
          <p:cNvSpPr txBox="1"/>
          <p:nvPr/>
        </p:nvSpPr>
        <p:spPr>
          <a:xfrm>
            <a:off x="731520" y="6126480"/>
            <a:ext cx="10972800" cy="365760"/>
          </a:xfrm>
          <a:prstGeom prst="rect">
            <a:avLst/>
          </a:prstGeom>
          <a:noFill/>
        </p:spPr>
        <p:txBody>
          <a:bodyPr wrap="square" lIns="0" rIns="0" tIns="0" bIns="0" anchor="t">
            <a:spAutoFit/>
          </a:bodyPr>
          <a:lstStyle/>
          <a:p>
            <a:pPr algn="l"/>
            <a:r>
              <a:rPr sz="1000" b="0">
                <a:solidFill>
                  <a:srgbClr val="C8D4E8"/>
                </a:solidFill>
                <a:latin typeface="Helvetica Neue"/>
              </a:rPr>
              <a:t>Team: Neeraj Kumar (lead) · Abhinav Sarkar · AK Singh · Paras Dhyani    ·    Jellyfish Technologies    ·    2026-04-09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lIns="0" rIns="0" tIns="0" bIns="0" anchor="t">
            <a:spAutoFit/>
          </a:bodyPr>
          <a:lstStyle/>
          <a:p>
            <a:pPr algn="l"/>
            <a:r>
              <a:rPr sz="1100" b="1">
                <a:solidFill>
                  <a:srgbClr val="0B3D91"/>
                </a:solidFill>
                <a:latin typeface="Helvetica Neue"/>
              </a:rPr>
              <a:t>01  ·  WHERE WE STARTED</a:t>
            </a:r>
          </a:p>
        </p:txBody>
      </p:sp>
      <p:sp>
        <p:nvSpPr>
          <p:cNvPr id="4" name="TextBox 3"/>
          <p:cNvSpPr txBox="1"/>
          <p:nvPr/>
        </p:nvSpPr>
        <p:spPr>
          <a:xfrm>
            <a:off x="457200" y="594360"/>
            <a:ext cx="10972800" cy="822960"/>
          </a:xfrm>
          <a:prstGeom prst="rect">
            <a:avLst/>
          </a:prstGeom>
          <a:noFill/>
        </p:spPr>
        <p:txBody>
          <a:bodyPr wrap="square" lIns="0" rIns="0" tIns="0" bIns="0" anchor="t">
            <a:spAutoFit/>
          </a:bodyPr>
          <a:lstStyle/>
          <a:p>
            <a:pPr algn="l"/>
            <a:r>
              <a:rPr sz="2800" b="1">
                <a:solidFill>
                  <a:srgbClr val="1A1A1A"/>
                </a:solidFill>
                <a:latin typeface="Helvetica Neue"/>
              </a:rPr>
              <a:t>Three business failures, one deadline</a:t>
            </a:r>
          </a:p>
        </p:txBody>
      </p:sp>
      <p:sp>
        <p:nvSpPr>
          <p:cNvPr id="5" name="TextBox 4"/>
          <p:cNvSpPr txBox="1"/>
          <p:nvPr/>
        </p:nvSpPr>
        <p:spPr>
          <a:xfrm>
            <a:off x="457200" y="1508760"/>
            <a:ext cx="11247120" cy="365760"/>
          </a:xfrm>
          <a:prstGeom prst="rect">
            <a:avLst/>
          </a:prstGeom>
          <a:noFill/>
        </p:spPr>
        <p:txBody>
          <a:bodyPr wrap="square" lIns="0" rIns="0" tIns="0" bIns="0" anchor="t">
            <a:spAutoFit/>
          </a:bodyPr>
          <a:lstStyle/>
          <a:p>
            <a:pPr algn="l"/>
            <a:r>
              <a:rPr sz="1400" b="0">
                <a:solidFill>
                  <a:srgbClr val="555555"/>
                </a:solidFill>
                <a:latin typeface="Helvetica Neue"/>
              </a:rPr>
              <a:t>Six acquisitions, six databases, three failures the leadership team couldn't answer.</a:t>
            </a:r>
          </a:p>
        </p:txBody>
      </p:sp>
      <p:sp>
        <p:nvSpPr>
          <p:cNvPr id="6" name="Rectangle 5"/>
          <p:cNvSpPr/>
          <p:nvPr/>
        </p:nvSpPr>
        <p:spPr>
          <a:xfrm>
            <a:off x="457200" y="2057400"/>
            <a:ext cx="3703320" cy="402336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57400"/>
            <a:ext cx="3703320" cy="109728"/>
          </a:xfrm>
          <a:prstGeom prst="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331720"/>
            <a:ext cx="3154680" cy="320040"/>
          </a:xfrm>
          <a:prstGeom prst="rect">
            <a:avLst/>
          </a:prstGeom>
          <a:noFill/>
        </p:spPr>
        <p:txBody>
          <a:bodyPr wrap="square" lIns="0" rIns="0" tIns="0" bIns="0" anchor="t">
            <a:spAutoFit/>
          </a:bodyPr>
          <a:lstStyle/>
          <a:p>
            <a:pPr algn="l"/>
            <a:r>
              <a:rPr sz="1100" b="1">
                <a:solidFill>
                  <a:srgbClr val="B02A2A"/>
                </a:solidFill>
                <a:latin typeface="Helvetica Neue"/>
              </a:rPr>
              <a:t>THE REGULATOR</a:t>
            </a:r>
          </a:p>
        </p:txBody>
      </p:sp>
      <p:sp>
        <p:nvSpPr>
          <p:cNvPr id="9" name="TextBox 8"/>
          <p:cNvSpPr txBox="1"/>
          <p:nvPr/>
        </p:nvSpPr>
        <p:spPr>
          <a:xfrm>
            <a:off x="731520" y="2697480"/>
            <a:ext cx="3154680" cy="960120"/>
          </a:xfrm>
          <a:prstGeom prst="rect">
            <a:avLst/>
          </a:prstGeom>
          <a:noFill/>
        </p:spPr>
        <p:txBody>
          <a:bodyPr wrap="square" lIns="0" rIns="0" tIns="0" bIns="0" anchor="t">
            <a:spAutoFit/>
          </a:bodyPr>
          <a:lstStyle/>
          <a:p>
            <a:pPr algn="l"/>
            <a:r>
              <a:rPr sz="1700" b="1">
                <a:solidFill>
                  <a:srgbClr val="1A1A1A"/>
                </a:solidFill>
                <a:latin typeface="Helvetica Neue"/>
              </a:rPr>
              <a:t>"How many customers
do you have?"</a:t>
            </a:r>
          </a:p>
        </p:txBody>
      </p:sp>
      <p:sp>
        <p:nvSpPr>
          <p:cNvPr id="10" name="TextBox 9"/>
          <p:cNvSpPr txBox="1"/>
          <p:nvPr/>
        </p:nvSpPr>
        <p:spPr>
          <a:xfrm>
            <a:off x="731520" y="3886200"/>
            <a:ext cx="3154680" cy="2103120"/>
          </a:xfrm>
          <a:prstGeom prst="rect">
            <a:avLst/>
          </a:prstGeom>
          <a:noFill/>
        </p:spPr>
        <p:txBody>
          <a:bodyPr wrap="square" lIns="0" rIns="0" tIns="0" bIns="0">
            <a:spAutoFit/>
          </a:bodyPr>
          <a:lstStyle/>
          <a:p>
            <a:pPr>
              <a:spcAft>
                <a:spcPts val="700"/>
              </a:spcAft>
            </a:pPr>
            <a:r>
              <a:rPr sz="1100">
                <a:solidFill>
                  <a:srgbClr val="1A1A1A"/>
                </a:solidFill>
                <a:latin typeface="Helvetica Neue"/>
              </a:rPr>
              <a:t>•  Same person under 6 different IDs</a:t>
            </a:r>
          </a:p>
          <a:p>
            <a:pPr>
              <a:spcAft>
                <a:spcPts val="700"/>
              </a:spcAft>
            </a:pPr>
            <a:r>
              <a:rPr sz="1100">
                <a:solidFill>
                  <a:srgbClr val="1A1A1A"/>
                </a:solidFill>
                <a:latin typeface="Helvetica Neue"/>
              </a:rPr>
              <a:t>•  Count inflated by ~12%</a:t>
            </a:r>
          </a:p>
          <a:p>
            <a:pPr>
              <a:spcAft>
                <a:spcPts val="700"/>
              </a:spcAft>
            </a:pPr>
            <a:r>
              <a:rPr sz="1100">
                <a:solidFill>
                  <a:srgbClr val="1A1A1A"/>
                </a:solidFill>
                <a:latin typeface="Helvetica Neue"/>
              </a:rPr>
              <a:t>•  No single source of truth</a:t>
            </a:r>
          </a:p>
          <a:p>
            <a:pPr>
              <a:spcAft>
                <a:spcPts val="700"/>
              </a:spcAft>
            </a:pPr>
            <a:r>
              <a:rPr sz="1100">
                <a:solidFill>
                  <a:srgbClr val="1A1A1A"/>
                </a:solidFill>
                <a:latin typeface="Helvetica Neue"/>
              </a:rPr>
              <a:t>•  90-day deadline</a:t>
            </a:r>
          </a:p>
        </p:txBody>
      </p:sp>
      <p:sp>
        <p:nvSpPr>
          <p:cNvPr id="11" name="Rectangle 10"/>
          <p:cNvSpPr/>
          <p:nvPr/>
        </p:nvSpPr>
        <p:spPr>
          <a:xfrm>
            <a:off x="4297680" y="2057400"/>
            <a:ext cx="3703320" cy="402336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2057400"/>
            <a:ext cx="3703320" cy="109728"/>
          </a:xfrm>
          <a:prstGeom prst="rect">
            <a:avLst/>
          </a:prstGeom>
          <a:solidFill>
            <a:srgbClr val="D86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331720"/>
            <a:ext cx="3154680" cy="320040"/>
          </a:xfrm>
          <a:prstGeom prst="rect">
            <a:avLst/>
          </a:prstGeom>
          <a:noFill/>
        </p:spPr>
        <p:txBody>
          <a:bodyPr wrap="square" lIns="0" rIns="0" tIns="0" bIns="0" anchor="t">
            <a:spAutoFit/>
          </a:bodyPr>
          <a:lstStyle/>
          <a:p>
            <a:pPr algn="l"/>
            <a:r>
              <a:rPr sz="1100" b="1">
                <a:solidFill>
                  <a:srgbClr val="D86820"/>
                </a:solidFill>
                <a:latin typeface="Helvetica Neue"/>
              </a:rPr>
              <a:t>THE CLAIMS MANAGER</a:t>
            </a:r>
          </a:p>
        </p:txBody>
      </p:sp>
      <p:sp>
        <p:nvSpPr>
          <p:cNvPr id="14" name="TextBox 13"/>
          <p:cNvSpPr txBox="1"/>
          <p:nvPr/>
        </p:nvSpPr>
        <p:spPr>
          <a:xfrm>
            <a:off x="4572000" y="2697480"/>
            <a:ext cx="3154680" cy="960120"/>
          </a:xfrm>
          <a:prstGeom prst="rect">
            <a:avLst/>
          </a:prstGeom>
          <a:noFill/>
        </p:spPr>
        <p:txBody>
          <a:bodyPr wrap="square" lIns="0" rIns="0" tIns="0" bIns="0" anchor="t">
            <a:spAutoFit/>
          </a:bodyPr>
          <a:lstStyle/>
          <a:p>
            <a:pPr algn="l"/>
            <a:r>
              <a:rPr sz="1700" b="1">
                <a:solidFill>
                  <a:srgbClr val="1A1A1A"/>
                </a:solidFill>
                <a:latin typeface="Helvetica Neue"/>
              </a:rPr>
              <a:t>"Where's the backlog
this morning?"</a:t>
            </a:r>
          </a:p>
        </p:txBody>
      </p:sp>
      <p:sp>
        <p:nvSpPr>
          <p:cNvPr id="15" name="TextBox 14"/>
          <p:cNvSpPr txBox="1"/>
          <p:nvPr/>
        </p:nvSpPr>
        <p:spPr>
          <a:xfrm>
            <a:off x="4572000" y="3886200"/>
            <a:ext cx="3154680" cy="2103120"/>
          </a:xfrm>
          <a:prstGeom prst="rect">
            <a:avLst/>
          </a:prstGeom>
          <a:noFill/>
        </p:spPr>
        <p:txBody>
          <a:bodyPr wrap="square" lIns="0" rIns="0" tIns="0" bIns="0">
            <a:spAutoFit/>
          </a:bodyPr>
          <a:lstStyle/>
          <a:p>
            <a:pPr>
              <a:spcAft>
                <a:spcPts val="700"/>
              </a:spcAft>
            </a:pPr>
            <a:r>
              <a:rPr sz="1100">
                <a:solidFill>
                  <a:srgbClr val="1A1A1A"/>
                </a:solidFill>
                <a:latin typeface="Helvetica Neue"/>
              </a:rPr>
              <a:t>•  18-day processing time</a:t>
            </a:r>
          </a:p>
          <a:p>
            <a:pPr>
              <a:spcAft>
                <a:spcPts val="700"/>
              </a:spcAft>
            </a:pPr>
            <a:r>
              <a:rPr sz="1100">
                <a:solidFill>
                  <a:srgbClr val="1A1A1A"/>
                </a:solidFill>
                <a:latin typeface="Helvetica Neue"/>
              </a:rPr>
              <a:t>•  Industry benchmark: 7 days</a:t>
            </a:r>
          </a:p>
          <a:p>
            <a:pPr>
              <a:spcAft>
                <a:spcPts val="700"/>
              </a:spcAft>
            </a:pPr>
            <a:r>
              <a:rPr sz="1100">
                <a:solidFill>
                  <a:srgbClr val="1A1A1A"/>
                </a:solidFill>
                <a:latin typeface="Helvetica Neue"/>
              </a:rPr>
              <a:t>•  3 disconnected systems per claim</a:t>
            </a:r>
          </a:p>
          <a:p>
            <a:pPr>
              <a:spcAft>
                <a:spcPts val="700"/>
              </a:spcAft>
            </a:pPr>
            <a:r>
              <a:rPr sz="1100">
                <a:solidFill>
                  <a:srgbClr val="1A1A1A"/>
                </a:solidFill>
                <a:latin typeface="Helvetica Neue"/>
              </a:rPr>
              <a:t>•  One undifferentiated queue</a:t>
            </a:r>
          </a:p>
        </p:txBody>
      </p:sp>
      <p:sp>
        <p:nvSpPr>
          <p:cNvPr id="16" name="Rectangle 15"/>
          <p:cNvSpPr/>
          <p:nvPr/>
        </p:nvSpPr>
        <p:spPr>
          <a:xfrm>
            <a:off x="8138160" y="2057400"/>
            <a:ext cx="3703320" cy="402336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38160" y="2057400"/>
            <a:ext cx="3703320" cy="109728"/>
          </a:xfrm>
          <a:prstGeom prst="rect">
            <a:avLst/>
          </a:prstGeom>
          <a:solidFill>
            <a:srgbClr val="1F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331720"/>
            <a:ext cx="3154680" cy="320040"/>
          </a:xfrm>
          <a:prstGeom prst="rect">
            <a:avLst/>
          </a:prstGeom>
          <a:noFill/>
        </p:spPr>
        <p:txBody>
          <a:bodyPr wrap="square" lIns="0" rIns="0" tIns="0" bIns="0" anchor="t">
            <a:spAutoFit/>
          </a:bodyPr>
          <a:lstStyle/>
          <a:p>
            <a:pPr algn="l"/>
            <a:r>
              <a:rPr sz="1100" b="1">
                <a:solidFill>
                  <a:srgbClr val="1F7A3E"/>
                </a:solidFill>
                <a:latin typeface="Helvetica Neue"/>
              </a:rPr>
              <a:t>THE SALES HEAD</a:t>
            </a:r>
          </a:p>
        </p:txBody>
      </p:sp>
      <p:sp>
        <p:nvSpPr>
          <p:cNvPr id="19" name="TextBox 18"/>
          <p:cNvSpPr txBox="1"/>
          <p:nvPr/>
        </p:nvSpPr>
        <p:spPr>
          <a:xfrm>
            <a:off x="8412480" y="2697480"/>
            <a:ext cx="3154680" cy="960120"/>
          </a:xfrm>
          <a:prstGeom prst="rect">
            <a:avLst/>
          </a:prstGeom>
          <a:noFill/>
        </p:spPr>
        <p:txBody>
          <a:bodyPr wrap="square" lIns="0" rIns="0" tIns="0" bIns="0" anchor="t">
            <a:spAutoFit/>
          </a:bodyPr>
          <a:lstStyle/>
          <a:p>
            <a:pPr algn="l"/>
            <a:r>
              <a:rPr sz="1700" b="1">
                <a:solidFill>
                  <a:srgbClr val="1A1A1A"/>
                </a:solidFill>
                <a:latin typeface="Helvetica Neue"/>
              </a:rPr>
              <a:t>"Which cars do I
need to act on today?"</a:t>
            </a:r>
          </a:p>
        </p:txBody>
      </p:sp>
      <p:sp>
        <p:nvSpPr>
          <p:cNvPr id="20" name="TextBox 19"/>
          <p:cNvSpPr txBox="1"/>
          <p:nvPr/>
        </p:nvSpPr>
        <p:spPr>
          <a:xfrm>
            <a:off x="8412480" y="3886200"/>
            <a:ext cx="3154680" cy="2103120"/>
          </a:xfrm>
          <a:prstGeom prst="rect">
            <a:avLst/>
          </a:prstGeom>
          <a:noFill/>
        </p:spPr>
        <p:txBody>
          <a:bodyPr wrap="square" lIns="0" rIns="0" tIns="0" bIns="0">
            <a:spAutoFit/>
          </a:bodyPr>
          <a:lstStyle/>
          <a:p>
            <a:pPr>
              <a:spcAft>
                <a:spcPts val="700"/>
              </a:spcAft>
            </a:pPr>
            <a:r>
              <a:rPr sz="1100">
                <a:solidFill>
                  <a:srgbClr val="1A1A1A"/>
                </a:solidFill>
                <a:latin typeface="Helvetica Neue"/>
              </a:rPr>
              <a:t>•  Cars sitting 90+ days in one region</a:t>
            </a:r>
          </a:p>
          <a:p>
            <a:pPr>
              <a:spcAft>
                <a:spcPts val="700"/>
              </a:spcAft>
            </a:pPr>
            <a:r>
              <a:rPr sz="1100">
                <a:solidFill>
                  <a:srgbClr val="1A1A1A"/>
                </a:solidFill>
                <a:latin typeface="Helvetica Neue"/>
              </a:rPr>
              <a:t>•  Same models selling in 2 weeks elsewhere</a:t>
            </a:r>
          </a:p>
          <a:p>
            <a:pPr>
              <a:spcAft>
                <a:spcPts val="700"/>
              </a:spcAft>
            </a:pPr>
            <a:r>
              <a:rPr sz="1100">
                <a:solidFill>
                  <a:srgbClr val="1A1A1A"/>
                </a:solidFill>
                <a:latin typeface="Helvetica Neue"/>
              </a:rPr>
              <a:t>•  No cross-regional visibility</a:t>
            </a:r>
          </a:p>
          <a:p>
            <a:pPr>
              <a:spcAft>
                <a:spcPts val="700"/>
              </a:spcAft>
            </a:pPr>
            <a:r>
              <a:rPr sz="1100">
                <a:solidFill>
                  <a:srgbClr val="1A1A1A"/>
                </a:solidFill>
                <a:latin typeface="Helvetica Neue"/>
              </a:rPr>
              <a:t>•  15–20% revenue at risk</a:t>
            </a:r>
          </a:p>
        </p:txBody>
      </p:sp>
      <p:sp>
        <p:nvSpPr>
          <p:cNvPr id="21" name="TextBox 20"/>
          <p:cNvSpPr txBox="1"/>
          <p:nvPr/>
        </p:nvSpPr>
        <p:spPr>
          <a:xfrm>
            <a:off x="457200" y="6263640"/>
            <a:ext cx="11247120" cy="320040"/>
          </a:xfrm>
          <a:prstGeom prst="rect">
            <a:avLst/>
          </a:prstGeom>
          <a:noFill/>
        </p:spPr>
        <p:txBody>
          <a:bodyPr wrap="square" lIns="0" rIns="0" tIns="0" bIns="0" anchor="t">
            <a:spAutoFit/>
          </a:bodyPr>
          <a:lstStyle/>
          <a:p>
            <a:pPr algn="ctr"/>
            <a:r>
              <a:rPr sz="1200" b="1">
                <a:solidFill>
                  <a:srgbClr val="555555"/>
                </a:solidFill>
                <a:latin typeface="Helvetica Neue"/>
              </a:rPr>
              <a:t>Three different people. Three different mornings. Three questions the data couldn't answer.</a:t>
            </a:r>
          </a:p>
        </p:txBody>
      </p:sp>
      <p:sp>
        <p:nvSpPr>
          <p:cNvPr id="22" name="TextBox 21"/>
          <p:cNvSpPr txBox="1"/>
          <p:nvPr/>
        </p:nvSpPr>
        <p:spPr>
          <a:xfrm>
            <a:off x="457200" y="6446520"/>
            <a:ext cx="8229600" cy="274320"/>
          </a:xfrm>
          <a:prstGeom prst="rect">
            <a:avLst/>
          </a:prstGeom>
          <a:noFill/>
        </p:spPr>
        <p:txBody>
          <a:bodyPr wrap="square" lIns="0" rIns="0" tIns="0" bIns="0" anchor="t">
            <a:spAutoFit/>
          </a:bodyPr>
          <a:lstStyle/>
          <a:p>
            <a:pPr algn="l"/>
            <a:r>
              <a:rPr sz="900" b="0">
                <a:solidFill>
                  <a:srgbClr val="555555"/>
                </a:solidFill>
                <a:latin typeface="Helvetica Neue"/>
              </a:rPr>
              <a:t>PrimeInsurance Data Intelligence Platform  ·  Jellyfish Technologies</a:t>
            </a:r>
          </a:p>
        </p:txBody>
      </p:sp>
      <p:sp>
        <p:nvSpPr>
          <p:cNvPr id="23" name="TextBox 22"/>
          <p:cNvSpPr txBox="1"/>
          <p:nvPr/>
        </p:nvSpPr>
        <p:spPr>
          <a:xfrm>
            <a:off x="11247120" y="6446520"/>
            <a:ext cx="731520" cy="274320"/>
          </a:xfrm>
          <a:prstGeom prst="rect">
            <a:avLst/>
          </a:prstGeom>
          <a:noFill/>
        </p:spPr>
        <p:txBody>
          <a:bodyPr wrap="square" lIns="0" rIns="0" tIns="0" bIns="0" anchor="t">
            <a:spAutoFit/>
          </a:bodyPr>
          <a:lstStyle/>
          <a:p>
            <a:pPr algn="r"/>
            <a:r>
              <a:rPr sz="900" b="0">
                <a:solidFill>
                  <a:srgbClr val="555555"/>
                </a:solidFill>
                <a:latin typeface="Helvetica Neue"/>
              </a:rP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lIns="0" rIns="0" tIns="0" bIns="0" anchor="t">
            <a:spAutoFit/>
          </a:bodyPr>
          <a:lstStyle/>
          <a:p>
            <a:pPr algn="l"/>
            <a:r>
              <a:rPr sz="1100" b="1">
                <a:solidFill>
                  <a:srgbClr val="0B3D91"/>
                </a:solidFill>
                <a:latin typeface="Helvetica Neue"/>
              </a:rPr>
              <a:t>02  ·  WHAT WE BUILT</a:t>
            </a:r>
          </a:p>
        </p:txBody>
      </p:sp>
      <p:sp>
        <p:nvSpPr>
          <p:cNvPr id="4" name="TextBox 3"/>
          <p:cNvSpPr txBox="1"/>
          <p:nvPr/>
        </p:nvSpPr>
        <p:spPr>
          <a:xfrm>
            <a:off x="457200" y="594360"/>
            <a:ext cx="10972800" cy="822960"/>
          </a:xfrm>
          <a:prstGeom prst="rect">
            <a:avLst/>
          </a:prstGeom>
          <a:noFill/>
        </p:spPr>
        <p:txBody>
          <a:bodyPr wrap="square" lIns="0" rIns="0" tIns="0" bIns="0" anchor="t">
            <a:spAutoFit/>
          </a:bodyPr>
          <a:lstStyle/>
          <a:p>
            <a:pPr algn="l"/>
            <a:r>
              <a:rPr sz="2800" b="1">
                <a:solidFill>
                  <a:srgbClr val="1A1A1A"/>
                </a:solidFill>
                <a:latin typeface="Helvetica Neue"/>
              </a:rPr>
              <a:t>Three capability layers, one continuous platform</a:t>
            </a:r>
          </a:p>
        </p:txBody>
      </p:sp>
      <p:sp>
        <p:nvSpPr>
          <p:cNvPr id="5" name="TextBox 4"/>
          <p:cNvSpPr txBox="1"/>
          <p:nvPr/>
        </p:nvSpPr>
        <p:spPr>
          <a:xfrm>
            <a:off x="457200" y="1508760"/>
            <a:ext cx="11247120" cy="365760"/>
          </a:xfrm>
          <a:prstGeom prst="rect">
            <a:avLst/>
          </a:prstGeom>
          <a:noFill/>
        </p:spPr>
        <p:txBody>
          <a:bodyPr wrap="square" lIns="0" rIns="0" tIns="0" bIns="0" anchor="t">
            <a:spAutoFit/>
          </a:bodyPr>
          <a:lstStyle/>
          <a:p>
            <a:pPr algn="l"/>
            <a:r>
              <a:rPr sz="1400" b="0">
                <a:solidFill>
                  <a:srgbClr val="555555"/>
                </a:solidFill>
                <a:latin typeface="Helvetica Neue"/>
              </a:rPr>
              <a:t>Every piece built on the last. Nothing was thrown away along the way.</a:t>
            </a:r>
          </a:p>
        </p:txBody>
      </p:sp>
      <p:sp>
        <p:nvSpPr>
          <p:cNvPr id="6" name="Rectangle 5"/>
          <p:cNvSpPr/>
          <p:nvPr/>
        </p:nvSpPr>
        <p:spPr>
          <a:xfrm>
            <a:off x="457200" y="1965960"/>
            <a:ext cx="11277295" cy="132588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965960"/>
            <a:ext cx="109728" cy="13258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85800" y="2286000"/>
            <a:ext cx="685800" cy="6858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77440"/>
            <a:ext cx="685800" cy="502920"/>
          </a:xfrm>
          <a:prstGeom prst="rect">
            <a:avLst/>
          </a:prstGeom>
          <a:noFill/>
        </p:spPr>
        <p:txBody>
          <a:bodyPr wrap="square" lIns="0" rIns="0" tIns="0" bIns="0" anchor="t">
            <a:spAutoFit/>
          </a:bodyPr>
          <a:lstStyle/>
          <a:p>
            <a:pPr algn="ctr"/>
            <a:r>
              <a:rPr sz="2000" b="1">
                <a:solidFill>
                  <a:srgbClr val="FFFFFF"/>
                </a:solidFill>
                <a:latin typeface="Helvetica Neue"/>
              </a:rPr>
              <a:t>1</a:t>
            </a:r>
          </a:p>
        </p:txBody>
      </p:sp>
      <p:sp>
        <p:nvSpPr>
          <p:cNvPr id="10" name="TextBox 9"/>
          <p:cNvSpPr txBox="1"/>
          <p:nvPr/>
        </p:nvSpPr>
        <p:spPr>
          <a:xfrm>
            <a:off x="1554480" y="2148840"/>
            <a:ext cx="5943600" cy="365760"/>
          </a:xfrm>
          <a:prstGeom prst="rect">
            <a:avLst/>
          </a:prstGeom>
          <a:noFill/>
        </p:spPr>
        <p:txBody>
          <a:bodyPr wrap="square" lIns="0" rIns="0" tIns="0" bIns="0" anchor="t">
            <a:spAutoFit/>
          </a:bodyPr>
          <a:lstStyle/>
          <a:p>
            <a:pPr algn="l"/>
            <a:r>
              <a:rPr sz="1300" b="1">
                <a:solidFill>
                  <a:srgbClr val="0B3D91"/>
                </a:solidFill>
                <a:latin typeface="Helvetica Neue"/>
              </a:rPr>
              <a:t>ONE SOURCE OF TRUTH</a:t>
            </a:r>
          </a:p>
        </p:txBody>
      </p:sp>
      <p:sp>
        <p:nvSpPr>
          <p:cNvPr id="11" name="TextBox 10"/>
          <p:cNvSpPr txBox="1"/>
          <p:nvPr/>
        </p:nvSpPr>
        <p:spPr>
          <a:xfrm>
            <a:off x="1554480" y="2423160"/>
            <a:ext cx="5943600" cy="411480"/>
          </a:xfrm>
          <a:prstGeom prst="rect">
            <a:avLst/>
          </a:prstGeom>
          <a:noFill/>
        </p:spPr>
        <p:txBody>
          <a:bodyPr wrap="square" lIns="0" rIns="0" tIns="0" bIns="0" anchor="t">
            <a:spAutoFit/>
          </a:bodyPr>
          <a:lstStyle/>
          <a:p>
            <a:pPr algn="l"/>
            <a:r>
              <a:rPr sz="1600" b="1">
                <a:solidFill>
                  <a:srgbClr val="1A1A1A"/>
                </a:solidFill>
                <a:latin typeface="Helvetica Neue"/>
              </a:rPr>
              <a:t>Unified, governed, audit-ready</a:t>
            </a:r>
          </a:p>
        </p:txBody>
      </p:sp>
      <p:sp>
        <p:nvSpPr>
          <p:cNvPr id="12" name="TextBox 11"/>
          <p:cNvSpPr txBox="1"/>
          <p:nvPr/>
        </p:nvSpPr>
        <p:spPr>
          <a:xfrm>
            <a:off x="1554480" y="2880360"/>
            <a:ext cx="10180015" cy="365760"/>
          </a:xfrm>
          <a:prstGeom prst="rect">
            <a:avLst/>
          </a:prstGeom>
          <a:noFill/>
        </p:spPr>
        <p:txBody>
          <a:bodyPr wrap="square" lIns="0" rIns="0" tIns="0" bIns="0" anchor="t">
            <a:spAutoFit/>
          </a:bodyPr>
          <a:lstStyle/>
          <a:p>
            <a:pPr algn="l"/>
            <a:r>
              <a:rPr sz="1000" b="0">
                <a:solidFill>
                  <a:srgbClr val="555555"/>
                </a:solidFill>
                <a:latin typeface="Helvetica Neue"/>
              </a:rPr>
              <a:t>14 raw files from 6 regional systems  →  one clean star schema.  3,605 raw customer rows deduplicated to 1,604 real people.  Quality rules catch every bad record; every catch has a resolution path.</a:t>
            </a:r>
          </a:p>
        </p:txBody>
      </p:sp>
      <p:sp>
        <p:nvSpPr>
          <p:cNvPr id="13" name="Rectangle 12"/>
          <p:cNvSpPr/>
          <p:nvPr/>
        </p:nvSpPr>
        <p:spPr>
          <a:xfrm>
            <a:off x="457200" y="3429000"/>
            <a:ext cx="11277295" cy="132588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429000"/>
            <a:ext cx="109728" cy="1325880"/>
          </a:xfrm>
          <a:prstGeom prst="rect">
            <a:avLst/>
          </a:prstGeom>
          <a:solidFill>
            <a:srgbClr val="0D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85800" y="3749040"/>
            <a:ext cx="685800" cy="685800"/>
          </a:xfrm>
          <a:prstGeom prst="ellipse">
            <a:avLst/>
          </a:prstGeom>
          <a:solidFill>
            <a:srgbClr val="0D6E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840480"/>
            <a:ext cx="685800" cy="502920"/>
          </a:xfrm>
          <a:prstGeom prst="rect">
            <a:avLst/>
          </a:prstGeom>
          <a:noFill/>
        </p:spPr>
        <p:txBody>
          <a:bodyPr wrap="square" lIns="0" rIns="0" tIns="0" bIns="0" anchor="t">
            <a:spAutoFit/>
          </a:bodyPr>
          <a:lstStyle/>
          <a:p>
            <a:pPr algn="ctr"/>
            <a:r>
              <a:rPr sz="2000" b="1">
                <a:solidFill>
                  <a:srgbClr val="FFFFFF"/>
                </a:solidFill>
                <a:latin typeface="Helvetica Neue"/>
              </a:rPr>
              <a:t>2</a:t>
            </a:r>
          </a:p>
        </p:txBody>
      </p:sp>
      <p:sp>
        <p:nvSpPr>
          <p:cNvPr id="17" name="TextBox 16"/>
          <p:cNvSpPr txBox="1"/>
          <p:nvPr/>
        </p:nvSpPr>
        <p:spPr>
          <a:xfrm>
            <a:off x="1554480" y="3611880"/>
            <a:ext cx="5943600" cy="365760"/>
          </a:xfrm>
          <a:prstGeom prst="rect">
            <a:avLst/>
          </a:prstGeom>
          <a:noFill/>
        </p:spPr>
        <p:txBody>
          <a:bodyPr wrap="square" lIns="0" rIns="0" tIns="0" bIns="0" anchor="t">
            <a:spAutoFit/>
          </a:bodyPr>
          <a:lstStyle/>
          <a:p>
            <a:pPr algn="l"/>
            <a:r>
              <a:rPr sz="1300" b="1">
                <a:solidFill>
                  <a:srgbClr val="0D6E8C"/>
                </a:solidFill>
                <a:latin typeface="Helvetica Neue"/>
              </a:rPr>
              <a:t>AI ASSISTANTS FOR EVERY AUDIENCE</a:t>
            </a:r>
          </a:p>
        </p:txBody>
      </p:sp>
      <p:sp>
        <p:nvSpPr>
          <p:cNvPr id="18" name="TextBox 17"/>
          <p:cNvSpPr txBox="1"/>
          <p:nvPr/>
        </p:nvSpPr>
        <p:spPr>
          <a:xfrm>
            <a:off x="1554480" y="3886200"/>
            <a:ext cx="5943600" cy="411480"/>
          </a:xfrm>
          <a:prstGeom prst="rect">
            <a:avLst/>
          </a:prstGeom>
          <a:noFill/>
        </p:spPr>
        <p:txBody>
          <a:bodyPr wrap="square" lIns="0" rIns="0" tIns="0" bIns="0" anchor="t">
            <a:spAutoFit/>
          </a:bodyPr>
          <a:lstStyle/>
          <a:p>
            <a:pPr algn="l"/>
            <a:r>
              <a:rPr sz="1600" b="1">
                <a:solidFill>
                  <a:srgbClr val="1A1A1A"/>
                </a:solidFill>
                <a:latin typeface="Helvetica Neue"/>
              </a:rPr>
              <a:t>Four personas, four answer shapes</a:t>
            </a:r>
          </a:p>
        </p:txBody>
      </p:sp>
      <p:sp>
        <p:nvSpPr>
          <p:cNvPr id="19" name="TextBox 18"/>
          <p:cNvSpPr txBox="1"/>
          <p:nvPr/>
        </p:nvSpPr>
        <p:spPr>
          <a:xfrm>
            <a:off x="1554480" y="4343400"/>
            <a:ext cx="10180015" cy="365760"/>
          </a:xfrm>
          <a:prstGeom prst="rect">
            <a:avLst/>
          </a:prstGeom>
          <a:noFill/>
        </p:spPr>
        <p:txBody>
          <a:bodyPr wrap="square" lIns="0" rIns="0" tIns="0" bIns="0" anchor="t">
            <a:spAutoFit/>
          </a:bodyPr>
          <a:lstStyle/>
          <a:p>
            <a:pPr algn="l"/>
            <a:r>
              <a:rPr sz="1000" b="0">
                <a:solidFill>
                  <a:srgbClr val="555555"/>
                </a:solidFill>
                <a:latin typeface="Helvetica Neue"/>
              </a:rPr>
              <a:t>Compliance reads plain-English data quality explanations.  Fraud investigators see 128 pre-scored cases with investigation briefs.  Adjusters get 2-second policy lookups.  Executives read AI-generated narratives from aggregated KPIs.</a:t>
            </a:r>
          </a:p>
        </p:txBody>
      </p:sp>
      <p:sp>
        <p:nvSpPr>
          <p:cNvPr id="20" name="Rectangle 19"/>
          <p:cNvSpPr/>
          <p:nvPr/>
        </p:nvSpPr>
        <p:spPr>
          <a:xfrm>
            <a:off x="457200" y="4892040"/>
            <a:ext cx="11277295" cy="132588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892040"/>
            <a:ext cx="109728" cy="1325880"/>
          </a:xfrm>
          <a:prstGeom prst="rect">
            <a:avLst/>
          </a:prstGeom>
          <a:solidFill>
            <a:srgbClr val="D86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85800" y="5212080"/>
            <a:ext cx="685800" cy="685800"/>
          </a:xfrm>
          <a:prstGeom prst="ellipse">
            <a:avLst/>
          </a:prstGeom>
          <a:solidFill>
            <a:srgbClr val="D86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303520"/>
            <a:ext cx="685800" cy="502920"/>
          </a:xfrm>
          <a:prstGeom prst="rect">
            <a:avLst/>
          </a:prstGeom>
          <a:noFill/>
        </p:spPr>
        <p:txBody>
          <a:bodyPr wrap="square" lIns="0" rIns="0" tIns="0" bIns="0" anchor="t">
            <a:spAutoFit/>
          </a:bodyPr>
          <a:lstStyle/>
          <a:p>
            <a:pPr algn="ctr"/>
            <a:r>
              <a:rPr sz="2000" b="1">
                <a:solidFill>
                  <a:srgbClr val="FFFFFF"/>
                </a:solidFill>
                <a:latin typeface="Helvetica Neue"/>
              </a:rPr>
              <a:t>3</a:t>
            </a:r>
          </a:p>
        </p:txBody>
      </p:sp>
      <p:sp>
        <p:nvSpPr>
          <p:cNvPr id="24" name="TextBox 23"/>
          <p:cNvSpPr txBox="1"/>
          <p:nvPr/>
        </p:nvSpPr>
        <p:spPr>
          <a:xfrm>
            <a:off x="1554480" y="5074920"/>
            <a:ext cx="5943600" cy="365760"/>
          </a:xfrm>
          <a:prstGeom prst="rect">
            <a:avLst/>
          </a:prstGeom>
          <a:noFill/>
        </p:spPr>
        <p:txBody>
          <a:bodyPr wrap="square" lIns="0" rIns="0" tIns="0" bIns="0" anchor="t">
            <a:spAutoFit/>
          </a:bodyPr>
          <a:lstStyle/>
          <a:p>
            <a:pPr algn="l"/>
            <a:r>
              <a:rPr sz="1300" b="1">
                <a:solidFill>
                  <a:srgbClr val="D86820"/>
                </a:solidFill>
                <a:latin typeface="Helvetica Neue"/>
              </a:rPr>
              <a:t>DIRECTLY IN USERS' HANDS</a:t>
            </a:r>
          </a:p>
        </p:txBody>
      </p:sp>
      <p:sp>
        <p:nvSpPr>
          <p:cNvPr id="25" name="TextBox 24"/>
          <p:cNvSpPr txBox="1"/>
          <p:nvPr/>
        </p:nvSpPr>
        <p:spPr>
          <a:xfrm>
            <a:off x="1554480" y="5349240"/>
            <a:ext cx="5943600" cy="411480"/>
          </a:xfrm>
          <a:prstGeom prst="rect">
            <a:avLst/>
          </a:prstGeom>
          <a:noFill/>
        </p:spPr>
        <p:txBody>
          <a:bodyPr wrap="square" lIns="0" rIns="0" tIns="0" bIns="0" anchor="t">
            <a:spAutoFit/>
          </a:bodyPr>
          <a:lstStyle/>
          <a:p>
            <a:pPr algn="l"/>
            <a:r>
              <a:rPr sz="1600" b="1">
                <a:solidFill>
                  <a:srgbClr val="1A1A1A"/>
                </a:solidFill>
                <a:latin typeface="Helvetica Neue"/>
              </a:rPr>
              <a:t>One URL. No SQL. No training.</a:t>
            </a:r>
          </a:p>
        </p:txBody>
      </p:sp>
      <p:sp>
        <p:nvSpPr>
          <p:cNvPr id="26" name="TextBox 25"/>
          <p:cNvSpPr txBox="1"/>
          <p:nvPr/>
        </p:nvSpPr>
        <p:spPr>
          <a:xfrm>
            <a:off x="1554480" y="5806440"/>
            <a:ext cx="10180015" cy="365760"/>
          </a:xfrm>
          <a:prstGeom prst="rect">
            <a:avLst/>
          </a:prstGeom>
          <a:noFill/>
        </p:spPr>
        <p:txBody>
          <a:bodyPr wrap="square" lIns="0" rIns="0" tIns="0" bIns="0" anchor="t">
            <a:spAutoFit/>
          </a:bodyPr>
          <a:lstStyle/>
          <a:p>
            <a:pPr algn="l"/>
            <a:r>
              <a:rPr sz="1000" b="0">
                <a:solidFill>
                  <a:srgbClr val="555555"/>
                </a:solidFill>
                <a:latin typeface="Helvetica Neue"/>
              </a:rPr>
              <a:t>A live database behind the scenes that a business app can actually query.  A single app screen with the four numbers each persona cares about.  A plain-English question box that calls an AI over the data — tested with 10 real questions, zero wrong answers.</a:t>
            </a:r>
          </a:p>
        </p:txBody>
      </p:sp>
      <p:sp>
        <p:nvSpPr>
          <p:cNvPr id="27" name="TextBox 26"/>
          <p:cNvSpPr txBox="1"/>
          <p:nvPr/>
        </p:nvSpPr>
        <p:spPr>
          <a:xfrm>
            <a:off x="457200" y="6126480"/>
            <a:ext cx="11277295" cy="502920"/>
          </a:xfrm>
          <a:prstGeom prst="rect">
            <a:avLst/>
          </a:prstGeom>
          <a:noFill/>
        </p:spPr>
        <p:txBody>
          <a:bodyPr wrap="square" lIns="0" rIns="0" tIns="0" bIns="0" anchor="t">
            <a:spAutoFit/>
          </a:bodyPr>
          <a:lstStyle/>
          <a:p>
            <a:pPr algn="ctr"/>
            <a:r>
              <a:rPr sz="1100" b="1">
                <a:solidFill>
                  <a:srgbClr val="0B3D91"/>
                </a:solidFill>
                <a:latin typeface="Helvetica Neue"/>
              </a:rPr>
              <a:t>14 source files   ·   13,086 records   ·   1,604 real customers   ·   128 fraud flags   ·   6 serving tables   ·   5 Genie tables   ·   10/10 test questions</a:t>
            </a:r>
          </a:p>
        </p:txBody>
      </p:sp>
      <p:sp>
        <p:nvSpPr>
          <p:cNvPr id="28" name="TextBox 27"/>
          <p:cNvSpPr txBox="1"/>
          <p:nvPr/>
        </p:nvSpPr>
        <p:spPr>
          <a:xfrm>
            <a:off x="457200" y="6446520"/>
            <a:ext cx="8229600" cy="274320"/>
          </a:xfrm>
          <a:prstGeom prst="rect">
            <a:avLst/>
          </a:prstGeom>
          <a:noFill/>
        </p:spPr>
        <p:txBody>
          <a:bodyPr wrap="square" lIns="0" rIns="0" tIns="0" bIns="0" anchor="t">
            <a:spAutoFit/>
          </a:bodyPr>
          <a:lstStyle/>
          <a:p>
            <a:pPr algn="l"/>
            <a:r>
              <a:rPr sz="900" b="0">
                <a:solidFill>
                  <a:srgbClr val="555555"/>
                </a:solidFill>
                <a:latin typeface="Helvetica Neue"/>
              </a:rPr>
              <a:t>PrimeInsurance Data Intelligence Platform  ·  Jellyfish Technologies</a:t>
            </a:r>
          </a:p>
        </p:txBody>
      </p:sp>
      <p:sp>
        <p:nvSpPr>
          <p:cNvPr id="29" name="TextBox 28"/>
          <p:cNvSpPr txBox="1"/>
          <p:nvPr/>
        </p:nvSpPr>
        <p:spPr>
          <a:xfrm>
            <a:off x="11247120" y="6446520"/>
            <a:ext cx="731520" cy="274320"/>
          </a:xfrm>
          <a:prstGeom prst="rect">
            <a:avLst/>
          </a:prstGeom>
          <a:noFill/>
        </p:spPr>
        <p:txBody>
          <a:bodyPr wrap="square" lIns="0" rIns="0" tIns="0" bIns="0" anchor="t">
            <a:spAutoFit/>
          </a:bodyPr>
          <a:lstStyle/>
          <a:p>
            <a:pPr algn="r"/>
            <a:r>
              <a:rPr sz="900" b="0">
                <a:solidFill>
                  <a:srgbClr val="555555"/>
                </a:solidFill>
                <a:latin typeface="Helvetica Neue"/>
              </a:rP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lIns="0" rIns="0" tIns="0" bIns="0" anchor="t">
            <a:spAutoFit/>
          </a:bodyPr>
          <a:lstStyle/>
          <a:p>
            <a:pPr algn="l"/>
            <a:r>
              <a:rPr sz="1100" b="1">
                <a:solidFill>
                  <a:srgbClr val="0B3D91"/>
                </a:solidFill>
                <a:latin typeface="Helvetica Neue"/>
              </a:rPr>
              <a:t>03  ·  WHERE WE ARE NOW</a:t>
            </a:r>
          </a:p>
        </p:txBody>
      </p:sp>
      <p:sp>
        <p:nvSpPr>
          <p:cNvPr id="4" name="TextBox 3"/>
          <p:cNvSpPr txBox="1"/>
          <p:nvPr/>
        </p:nvSpPr>
        <p:spPr>
          <a:xfrm>
            <a:off x="457200" y="594360"/>
            <a:ext cx="10972800" cy="822960"/>
          </a:xfrm>
          <a:prstGeom prst="rect">
            <a:avLst/>
          </a:prstGeom>
          <a:noFill/>
        </p:spPr>
        <p:txBody>
          <a:bodyPr wrap="square" lIns="0" rIns="0" tIns="0" bIns="0" anchor="t">
            <a:spAutoFit/>
          </a:bodyPr>
          <a:lstStyle/>
          <a:p>
            <a:pPr algn="l"/>
            <a:r>
              <a:rPr sz="2800" b="1">
                <a:solidFill>
                  <a:srgbClr val="1A1A1A"/>
                </a:solidFill>
                <a:latin typeface="Helvetica Neue"/>
              </a:rPr>
              <a:t>Three failures, three answers</a:t>
            </a:r>
          </a:p>
        </p:txBody>
      </p:sp>
      <p:sp>
        <p:nvSpPr>
          <p:cNvPr id="5" name="TextBox 4"/>
          <p:cNvSpPr txBox="1"/>
          <p:nvPr/>
        </p:nvSpPr>
        <p:spPr>
          <a:xfrm>
            <a:off x="457200" y="1508760"/>
            <a:ext cx="11247120" cy="365760"/>
          </a:xfrm>
          <a:prstGeom prst="rect">
            <a:avLst/>
          </a:prstGeom>
          <a:noFill/>
        </p:spPr>
        <p:txBody>
          <a:bodyPr wrap="square" lIns="0" rIns="0" tIns="0" bIns="0" anchor="t">
            <a:spAutoFit/>
          </a:bodyPr>
          <a:lstStyle/>
          <a:p>
            <a:pPr algn="l"/>
            <a:r>
              <a:rPr sz="1400" b="0">
                <a:solidFill>
                  <a:srgbClr val="555555"/>
                </a:solidFill>
                <a:latin typeface="Helvetica Neue"/>
              </a:rPr>
              <a:t>All three questions the business couldn't answer at the start are now one click away.</a:t>
            </a:r>
          </a:p>
        </p:txBody>
      </p:sp>
      <p:sp>
        <p:nvSpPr>
          <p:cNvPr id="6" name="Rectangle 5"/>
          <p:cNvSpPr/>
          <p:nvPr/>
        </p:nvSpPr>
        <p:spPr>
          <a:xfrm>
            <a:off x="457200" y="2057400"/>
            <a:ext cx="3703320" cy="402336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57400"/>
            <a:ext cx="3703320" cy="109728"/>
          </a:xfrm>
          <a:prstGeom prst="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331720"/>
            <a:ext cx="594360" cy="594360"/>
          </a:xfrm>
          <a:prstGeom prst="ellipse">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377440"/>
            <a:ext cx="594360" cy="502920"/>
          </a:xfrm>
          <a:prstGeom prst="rect">
            <a:avLst/>
          </a:prstGeom>
          <a:noFill/>
        </p:spPr>
        <p:txBody>
          <a:bodyPr wrap="square" lIns="0" rIns="0" tIns="0" bIns="0" anchor="t">
            <a:spAutoFit/>
          </a:bodyPr>
          <a:lstStyle/>
          <a:p>
            <a:pPr algn="ctr"/>
            <a:r>
              <a:rPr sz="1800" b="1">
                <a:solidFill>
                  <a:srgbClr val="FFFFFF"/>
                </a:solidFill>
                <a:latin typeface="Helvetica Neue"/>
              </a:rPr>
              <a:t>✓</a:t>
            </a:r>
          </a:p>
        </p:txBody>
      </p:sp>
      <p:sp>
        <p:nvSpPr>
          <p:cNvPr id="10" name="TextBox 9"/>
          <p:cNvSpPr txBox="1"/>
          <p:nvPr/>
        </p:nvSpPr>
        <p:spPr>
          <a:xfrm>
            <a:off x="1508760" y="2377440"/>
            <a:ext cx="2423160" cy="320040"/>
          </a:xfrm>
          <a:prstGeom prst="rect">
            <a:avLst/>
          </a:prstGeom>
          <a:noFill/>
        </p:spPr>
        <p:txBody>
          <a:bodyPr wrap="square" lIns="0" rIns="0" tIns="0" bIns="0" anchor="t">
            <a:spAutoFit/>
          </a:bodyPr>
          <a:lstStyle/>
          <a:p>
            <a:pPr algn="l"/>
            <a:r>
              <a:rPr sz="1000" b="1">
                <a:solidFill>
                  <a:srgbClr val="B02A2A"/>
                </a:solidFill>
                <a:latin typeface="Helvetica Neue"/>
              </a:rPr>
              <a:t>THE REGULATOR</a:t>
            </a:r>
          </a:p>
        </p:txBody>
      </p:sp>
      <p:sp>
        <p:nvSpPr>
          <p:cNvPr id="11" name="TextBox 10"/>
          <p:cNvSpPr txBox="1"/>
          <p:nvPr/>
        </p:nvSpPr>
        <p:spPr>
          <a:xfrm>
            <a:off x="1508760" y="2606040"/>
            <a:ext cx="2423160" cy="457200"/>
          </a:xfrm>
          <a:prstGeom prst="rect">
            <a:avLst/>
          </a:prstGeom>
          <a:noFill/>
        </p:spPr>
        <p:txBody>
          <a:bodyPr wrap="square" lIns="0" rIns="0" tIns="0" bIns="0" anchor="t">
            <a:spAutoFit/>
          </a:bodyPr>
          <a:lstStyle/>
          <a:p>
            <a:pPr algn="l"/>
            <a:r>
              <a:rPr sz="1100" b="1">
                <a:solidFill>
                  <a:srgbClr val="1F7A3E"/>
                </a:solidFill>
                <a:latin typeface="Helvetica Neue"/>
              </a:rPr>
              <a:t>SOLVED</a:t>
            </a:r>
          </a:p>
        </p:txBody>
      </p:sp>
      <p:sp>
        <p:nvSpPr>
          <p:cNvPr id="12" name="TextBox 11"/>
          <p:cNvSpPr txBox="1"/>
          <p:nvPr/>
        </p:nvSpPr>
        <p:spPr>
          <a:xfrm>
            <a:off x="731520" y="3154680"/>
            <a:ext cx="3154680" cy="914400"/>
          </a:xfrm>
          <a:prstGeom prst="rect">
            <a:avLst/>
          </a:prstGeom>
          <a:noFill/>
        </p:spPr>
        <p:txBody>
          <a:bodyPr wrap="square" lIns="0" rIns="0" tIns="0" bIns="0" anchor="t">
            <a:spAutoFit/>
          </a:bodyPr>
          <a:lstStyle/>
          <a:p>
            <a:pPr algn="l"/>
            <a:r>
              <a:rPr sz="2200" b="1">
                <a:solidFill>
                  <a:srgbClr val="1A1A1A"/>
                </a:solidFill>
                <a:latin typeface="Helvetica Neue"/>
              </a:rPr>
              <a:t>"1,604 customers"</a:t>
            </a:r>
          </a:p>
        </p:txBody>
      </p:sp>
      <p:sp>
        <p:nvSpPr>
          <p:cNvPr id="13" name="TextBox 12"/>
          <p:cNvSpPr txBox="1"/>
          <p:nvPr/>
        </p:nvSpPr>
        <p:spPr>
          <a:xfrm>
            <a:off x="731520" y="4343400"/>
            <a:ext cx="3154680" cy="1645920"/>
          </a:xfrm>
          <a:prstGeom prst="rect">
            <a:avLst/>
          </a:prstGeom>
          <a:noFill/>
        </p:spPr>
        <p:txBody>
          <a:bodyPr wrap="square" lIns="0" rIns="0" tIns="0" bIns="0" anchor="t">
            <a:spAutoFit/>
          </a:bodyPr>
          <a:lstStyle/>
          <a:p>
            <a:pPr algn="l"/>
            <a:r>
              <a:rPr sz="1100" b="0">
                <a:solidFill>
                  <a:srgbClr val="555555"/>
                </a:solidFill>
                <a:latin typeface="Helvetica Neue"/>
              </a:rPr>
              <a:t>Deduplication methodology visible and auditable. Regulator query turnaround: seconds, not days. Compliance team answers directly, without calling engineering.</a:t>
            </a:r>
          </a:p>
        </p:txBody>
      </p:sp>
      <p:sp>
        <p:nvSpPr>
          <p:cNvPr id="14" name="Rectangle 13"/>
          <p:cNvSpPr/>
          <p:nvPr/>
        </p:nvSpPr>
        <p:spPr>
          <a:xfrm>
            <a:off x="4297680" y="2057400"/>
            <a:ext cx="3703320" cy="402336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2057400"/>
            <a:ext cx="3703320" cy="109728"/>
          </a:xfrm>
          <a:prstGeom prst="rect">
            <a:avLst/>
          </a:prstGeom>
          <a:solidFill>
            <a:srgbClr val="D86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72000" y="2331720"/>
            <a:ext cx="594360" cy="594360"/>
          </a:xfrm>
          <a:prstGeom prst="ellipse">
            <a:avLst/>
          </a:prstGeom>
          <a:solidFill>
            <a:srgbClr val="D86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2377440"/>
            <a:ext cx="594360" cy="502920"/>
          </a:xfrm>
          <a:prstGeom prst="rect">
            <a:avLst/>
          </a:prstGeom>
          <a:noFill/>
        </p:spPr>
        <p:txBody>
          <a:bodyPr wrap="square" lIns="0" rIns="0" tIns="0" bIns="0" anchor="t">
            <a:spAutoFit/>
          </a:bodyPr>
          <a:lstStyle/>
          <a:p>
            <a:pPr algn="ctr"/>
            <a:r>
              <a:rPr sz="1800" b="1">
                <a:solidFill>
                  <a:srgbClr val="FFFFFF"/>
                </a:solidFill>
                <a:latin typeface="Helvetica Neue"/>
              </a:rPr>
              <a:t>✓</a:t>
            </a:r>
          </a:p>
        </p:txBody>
      </p:sp>
      <p:sp>
        <p:nvSpPr>
          <p:cNvPr id="18" name="TextBox 17"/>
          <p:cNvSpPr txBox="1"/>
          <p:nvPr/>
        </p:nvSpPr>
        <p:spPr>
          <a:xfrm>
            <a:off x="5349240" y="2377440"/>
            <a:ext cx="2423160" cy="320040"/>
          </a:xfrm>
          <a:prstGeom prst="rect">
            <a:avLst/>
          </a:prstGeom>
          <a:noFill/>
        </p:spPr>
        <p:txBody>
          <a:bodyPr wrap="square" lIns="0" rIns="0" tIns="0" bIns="0" anchor="t">
            <a:spAutoFit/>
          </a:bodyPr>
          <a:lstStyle/>
          <a:p>
            <a:pPr algn="l"/>
            <a:r>
              <a:rPr sz="1000" b="1">
                <a:solidFill>
                  <a:srgbClr val="D86820"/>
                </a:solidFill>
                <a:latin typeface="Helvetica Neue"/>
              </a:rPr>
              <a:t>THE CLAIMS MANAGER</a:t>
            </a:r>
          </a:p>
        </p:txBody>
      </p:sp>
      <p:sp>
        <p:nvSpPr>
          <p:cNvPr id="19" name="TextBox 18"/>
          <p:cNvSpPr txBox="1"/>
          <p:nvPr/>
        </p:nvSpPr>
        <p:spPr>
          <a:xfrm>
            <a:off x="5349240" y="2606040"/>
            <a:ext cx="2423160" cy="457200"/>
          </a:xfrm>
          <a:prstGeom prst="rect">
            <a:avLst/>
          </a:prstGeom>
          <a:noFill/>
        </p:spPr>
        <p:txBody>
          <a:bodyPr wrap="square" lIns="0" rIns="0" tIns="0" bIns="0" anchor="t">
            <a:spAutoFit/>
          </a:bodyPr>
          <a:lstStyle/>
          <a:p>
            <a:pPr algn="l"/>
            <a:r>
              <a:rPr sz="1100" b="1">
                <a:solidFill>
                  <a:srgbClr val="1F7A3E"/>
                </a:solidFill>
                <a:latin typeface="Helvetica Neue"/>
              </a:rPr>
              <a:t>SOLVED</a:t>
            </a:r>
          </a:p>
        </p:txBody>
      </p:sp>
      <p:sp>
        <p:nvSpPr>
          <p:cNvPr id="20" name="TextBox 19"/>
          <p:cNvSpPr txBox="1"/>
          <p:nvPr/>
        </p:nvSpPr>
        <p:spPr>
          <a:xfrm>
            <a:off x="4572000" y="3154680"/>
            <a:ext cx="3154680" cy="914400"/>
          </a:xfrm>
          <a:prstGeom prst="rect">
            <a:avLst/>
          </a:prstGeom>
          <a:noFill/>
        </p:spPr>
        <p:txBody>
          <a:bodyPr wrap="square" lIns="0" rIns="0" tIns="0" bIns="0" anchor="t">
            <a:spAutoFit/>
          </a:bodyPr>
          <a:lstStyle/>
          <a:p>
            <a:pPr algn="l"/>
            <a:r>
              <a:rPr sz="2200" b="1">
                <a:solidFill>
                  <a:srgbClr val="1A1A1A"/>
                </a:solidFill>
                <a:latin typeface="Helvetica Neue"/>
              </a:rPr>
              <a:t>"Here's the backlog"</a:t>
            </a:r>
          </a:p>
        </p:txBody>
      </p:sp>
      <p:sp>
        <p:nvSpPr>
          <p:cNvPr id="21" name="TextBox 20"/>
          <p:cNvSpPr txBox="1"/>
          <p:nvPr/>
        </p:nvSpPr>
        <p:spPr>
          <a:xfrm>
            <a:off x="4572000" y="4343400"/>
            <a:ext cx="3154680" cy="1645920"/>
          </a:xfrm>
          <a:prstGeom prst="rect">
            <a:avLst/>
          </a:prstGeom>
          <a:noFill/>
        </p:spPr>
        <p:txBody>
          <a:bodyPr wrap="square" lIns="0" rIns="0" tIns="0" bIns="0" anchor="t">
            <a:spAutoFit/>
          </a:bodyPr>
          <a:lstStyle/>
          <a:p>
            <a:pPr algn="l"/>
            <a:r>
              <a:rPr sz="1100" b="0">
                <a:solidFill>
                  <a:srgbClr val="555555"/>
                </a:solidFill>
                <a:latin typeface="Helvetica Neue"/>
              </a:rPr>
              <a:t>Rejection rate, fraud flags, severity breakdown — all visible on one screen before morning standup. 276 rejected claims, 128 scored for fraud investigation with briefs.</a:t>
            </a:r>
          </a:p>
        </p:txBody>
      </p:sp>
      <p:sp>
        <p:nvSpPr>
          <p:cNvPr id="22" name="Rectangle 21"/>
          <p:cNvSpPr/>
          <p:nvPr/>
        </p:nvSpPr>
        <p:spPr>
          <a:xfrm>
            <a:off x="8138160" y="2057400"/>
            <a:ext cx="3703320" cy="402336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38160" y="2057400"/>
            <a:ext cx="3703320" cy="109728"/>
          </a:xfrm>
          <a:prstGeom prst="rect">
            <a:avLst/>
          </a:prstGeom>
          <a:solidFill>
            <a:srgbClr val="1F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412480" y="2331720"/>
            <a:ext cx="594360" cy="594360"/>
          </a:xfrm>
          <a:prstGeom prst="ellipse">
            <a:avLst/>
          </a:prstGeom>
          <a:solidFill>
            <a:srgbClr val="1F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2377440"/>
            <a:ext cx="594360" cy="502920"/>
          </a:xfrm>
          <a:prstGeom prst="rect">
            <a:avLst/>
          </a:prstGeom>
          <a:noFill/>
        </p:spPr>
        <p:txBody>
          <a:bodyPr wrap="square" lIns="0" rIns="0" tIns="0" bIns="0" anchor="t">
            <a:spAutoFit/>
          </a:bodyPr>
          <a:lstStyle/>
          <a:p>
            <a:pPr algn="ctr"/>
            <a:r>
              <a:rPr sz="1800" b="1">
                <a:solidFill>
                  <a:srgbClr val="FFFFFF"/>
                </a:solidFill>
                <a:latin typeface="Helvetica Neue"/>
              </a:rPr>
              <a:t>✓</a:t>
            </a:r>
          </a:p>
        </p:txBody>
      </p:sp>
      <p:sp>
        <p:nvSpPr>
          <p:cNvPr id="26" name="TextBox 25"/>
          <p:cNvSpPr txBox="1"/>
          <p:nvPr/>
        </p:nvSpPr>
        <p:spPr>
          <a:xfrm>
            <a:off x="9189720" y="2377440"/>
            <a:ext cx="2423160" cy="320040"/>
          </a:xfrm>
          <a:prstGeom prst="rect">
            <a:avLst/>
          </a:prstGeom>
          <a:noFill/>
        </p:spPr>
        <p:txBody>
          <a:bodyPr wrap="square" lIns="0" rIns="0" tIns="0" bIns="0" anchor="t">
            <a:spAutoFit/>
          </a:bodyPr>
          <a:lstStyle/>
          <a:p>
            <a:pPr algn="l"/>
            <a:r>
              <a:rPr sz="1000" b="1">
                <a:solidFill>
                  <a:srgbClr val="1F7A3E"/>
                </a:solidFill>
                <a:latin typeface="Helvetica Neue"/>
              </a:rPr>
              <a:t>THE SALES HEAD</a:t>
            </a:r>
          </a:p>
        </p:txBody>
      </p:sp>
      <p:sp>
        <p:nvSpPr>
          <p:cNvPr id="27" name="TextBox 26"/>
          <p:cNvSpPr txBox="1"/>
          <p:nvPr/>
        </p:nvSpPr>
        <p:spPr>
          <a:xfrm>
            <a:off x="9189720" y="2606040"/>
            <a:ext cx="2423160" cy="457200"/>
          </a:xfrm>
          <a:prstGeom prst="rect">
            <a:avLst/>
          </a:prstGeom>
          <a:noFill/>
        </p:spPr>
        <p:txBody>
          <a:bodyPr wrap="square" lIns="0" rIns="0" tIns="0" bIns="0" anchor="t">
            <a:spAutoFit/>
          </a:bodyPr>
          <a:lstStyle/>
          <a:p>
            <a:pPr algn="l"/>
            <a:r>
              <a:rPr sz="1100" b="1">
                <a:solidFill>
                  <a:srgbClr val="1F7A3E"/>
                </a:solidFill>
                <a:latin typeface="Helvetica Neue"/>
              </a:rPr>
              <a:t>SOLVED</a:t>
            </a:r>
          </a:p>
        </p:txBody>
      </p:sp>
      <p:sp>
        <p:nvSpPr>
          <p:cNvPr id="28" name="TextBox 27"/>
          <p:cNvSpPr txBox="1"/>
          <p:nvPr/>
        </p:nvSpPr>
        <p:spPr>
          <a:xfrm>
            <a:off x="8412480" y="3154680"/>
            <a:ext cx="3154680" cy="914400"/>
          </a:xfrm>
          <a:prstGeom prst="rect">
            <a:avLst/>
          </a:prstGeom>
          <a:noFill/>
        </p:spPr>
        <p:txBody>
          <a:bodyPr wrap="square" lIns="0" rIns="0" tIns="0" bIns="0" anchor="t">
            <a:spAutoFit/>
          </a:bodyPr>
          <a:lstStyle/>
          <a:p>
            <a:pPr algn="l"/>
            <a:r>
              <a:rPr sz="2200" b="1">
                <a:solidFill>
                  <a:srgbClr val="1A1A1A"/>
                </a:solidFill>
                <a:latin typeface="Helvetica Neue"/>
              </a:rPr>
              <a:t>"176 cars need action"</a:t>
            </a:r>
          </a:p>
        </p:txBody>
      </p:sp>
      <p:sp>
        <p:nvSpPr>
          <p:cNvPr id="29" name="TextBox 28"/>
          <p:cNvSpPr txBox="1"/>
          <p:nvPr/>
        </p:nvSpPr>
        <p:spPr>
          <a:xfrm>
            <a:off x="8412480" y="4343400"/>
            <a:ext cx="3154680" cy="1645920"/>
          </a:xfrm>
          <a:prstGeom prst="rect">
            <a:avLst/>
          </a:prstGeom>
          <a:noFill/>
        </p:spPr>
        <p:txBody>
          <a:bodyPr wrap="square" lIns="0" rIns="0" tIns="0" bIns="0" anchor="t">
            <a:spAutoFit/>
          </a:bodyPr>
          <a:lstStyle/>
          <a:p>
            <a:pPr algn="l"/>
            <a:r>
              <a:rPr sz="1100" b="0">
                <a:solidFill>
                  <a:srgbClr val="555555"/>
                </a:solidFill>
                <a:latin typeface="Helvetica Neue"/>
              </a:rPr>
              <a:t>Every unsold car labeled Fresh, Watch, Stale, or Critical. 176 cars currently in Stale plus Critical. Visible the moment she opens the app, sorted by days listed.</a:t>
            </a:r>
          </a:p>
        </p:txBody>
      </p:sp>
      <p:sp>
        <p:nvSpPr>
          <p:cNvPr id="30" name="TextBox 29"/>
          <p:cNvSpPr txBox="1"/>
          <p:nvPr/>
        </p:nvSpPr>
        <p:spPr>
          <a:xfrm>
            <a:off x="457200" y="6263640"/>
            <a:ext cx="11247120" cy="320040"/>
          </a:xfrm>
          <a:prstGeom prst="rect">
            <a:avLst/>
          </a:prstGeom>
          <a:noFill/>
        </p:spPr>
        <p:txBody>
          <a:bodyPr wrap="square" lIns="0" rIns="0" tIns="0" bIns="0" anchor="t">
            <a:spAutoFit/>
          </a:bodyPr>
          <a:lstStyle/>
          <a:p>
            <a:pPr algn="ctr"/>
            <a:r>
              <a:rPr sz="1200" b="1">
                <a:solidFill>
                  <a:srgbClr val="0B3D91"/>
                </a:solidFill>
                <a:latin typeface="Helvetica Neue"/>
              </a:rPr>
              <a:t>Same three people. Same three mornings. Different conversation.</a:t>
            </a:r>
          </a:p>
        </p:txBody>
      </p:sp>
      <p:sp>
        <p:nvSpPr>
          <p:cNvPr id="31" name="TextBox 30"/>
          <p:cNvSpPr txBox="1"/>
          <p:nvPr/>
        </p:nvSpPr>
        <p:spPr>
          <a:xfrm>
            <a:off x="457200" y="6446520"/>
            <a:ext cx="8229600" cy="274320"/>
          </a:xfrm>
          <a:prstGeom prst="rect">
            <a:avLst/>
          </a:prstGeom>
          <a:noFill/>
        </p:spPr>
        <p:txBody>
          <a:bodyPr wrap="square" lIns="0" rIns="0" tIns="0" bIns="0" anchor="t">
            <a:spAutoFit/>
          </a:bodyPr>
          <a:lstStyle/>
          <a:p>
            <a:pPr algn="l"/>
            <a:r>
              <a:rPr sz="900" b="0">
                <a:solidFill>
                  <a:srgbClr val="555555"/>
                </a:solidFill>
                <a:latin typeface="Helvetica Neue"/>
              </a:rPr>
              <a:t>PrimeInsurance Data Intelligence Platform  ·  Jellyfish Technologies</a:t>
            </a:r>
          </a:p>
        </p:txBody>
      </p:sp>
      <p:sp>
        <p:nvSpPr>
          <p:cNvPr id="32" name="TextBox 31"/>
          <p:cNvSpPr txBox="1"/>
          <p:nvPr/>
        </p:nvSpPr>
        <p:spPr>
          <a:xfrm>
            <a:off x="11247120" y="6446520"/>
            <a:ext cx="731520" cy="274320"/>
          </a:xfrm>
          <a:prstGeom prst="rect">
            <a:avLst/>
          </a:prstGeom>
          <a:noFill/>
        </p:spPr>
        <p:txBody>
          <a:bodyPr wrap="square" lIns="0" rIns="0" tIns="0" bIns="0" anchor="t">
            <a:spAutoFit/>
          </a:bodyPr>
          <a:lstStyle/>
          <a:p>
            <a:pPr algn="r"/>
            <a:r>
              <a:rPr sz="900" b="0">
                <a:solidFill>
                  <a:srgbClr val="555555"/>
                </a:solidFill>
                <a:latin typeface="Helvetica Neue"/>
              </a:rP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lIns="0" rIns="0" tIns="0" bIns="0" anchor="t">
            <a:spAutoFit/>
          </a:bodyPr>
          <a:lstStyle/>
          <a:p>
            <a:pPr algn="l"/>
            <a:r>
              <a:rPr sz="1100" b="1">
                <a:solidFill>
                  <a:srgbClr val="0B3D91"/>
                </a:solidFill>
                <a:latin typeface="Helvetica Neue"/>
              </a:rPr>
              <a:t>04  ·  THE APP</a:t>
            </a:r>
          </a:p>
        </p:txBody>
      </p:sp>
      <p:sp>
        <p:nvSpPr>
          <p:cNvPr id="4" name="TextBox 3"/>
          <p:cNvSpPr txBox="1"/>
          <p:nvPr/>
        </p:nvSpPr>
        <p:spPr>
          <a:xfrm>
            <a:off x="457200" y="594360"/>
            <a:ext cx="10972800" cy="822960"/>
          </a:xfrm>
          <a:prstGeom prst="rect">
            <a:avLst/>
          </a:prstGeom>
          <a:noFill/>
        </p:spPr>
        <p:txBody>
          <a:bodyPr wrap="square" lIns="0" rIns="0" tIns="0" bIns="0" anchor="t">
            <a:spAutoFit/>
          </a:bodyPr>
          <a:lstStyle/>
          <a:p>
            <a:pPr algn="l"/>
            <a:r>
              <a:rPr sz="2800" b="1">
                <a:solidFill>
                  <a:srgbClr val="1A1A1A"/>
                </a:solidFill>
                <a:latin typeface="Helvetica Neue"/>
              </a:rPr>
              <a:t>One screen. Four numbers. One question box.</a:t>
            </a:r>
          </a:p>
        </p:txBody>
      </p:sp>
      <p:sp>
        <p:nvSpPr>
          <p:cNvPr id="5" name="TextBox 4"/>
          <p:cNvSpPr txBox="1"/>
          <p:nvPr/>
        </p:nvSpPr>
        <p:spPr>
          <a:xfrm>
            <a:off x="457200" y="1508760"/>
            <a:ext cx="11247120" cy="365760"/>
          </a:xfrm>
          <a:prstGeom prst="rect">
            <a:avLst/>
          </a:prstGeom>
          <a:noFill/>
        </p:spPr>
        <p:txBody>
          <a:bodyPr wrap="square" lIns="0" rIns="0" tIns="0" bIns="0" anchor="t">
            <a:spAutoFit/>
          </a:bodyPr>
          <a:lstStyle/>
          <a:p>
            <a:pPr algn="l"/>
            <a:r>
              <a:rPr sz="1400" b="0">
                <a:solidFill>
                  <a:srgbClr val="555555"/>
                </a:solidFill>
                <a:latin typeface="Helvetica Neue"/>
              </a:rPr>
              <a:t>This is what business users open every morning. Everything above is behind the scenes.</a:t>
            </a:r>
          </a:p>
        </p:txBody>
      </p:sp>
      <p:sp>
        <p:nvSpPr>
          <p:cNvPr id="6" name="Rectangle 5"/>
          <p:cNvSpPr/>
          <p:nvPr/>
        </p:nvSpPr>
        <p:spPr>
          <a:xfrm>
            <a:off x="822960" y="2011680"/>
            <a:ext cx="10545775" cy="4023360"/>
          </a:xfrm>
          <a:prstGeom prst="rect">
            <a:avLst/>
          </a:prstGeom>
          <a:solidFill>
            <a:srgbClr val="FFFFFF"/>
          </a:solidFill>
          <a:ln w="12700">
            <a:solidFill>
              <a:srgbClr val="C8D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011680"/>
            <a:ext cx="10545775" cy="4114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103120"/>
            <a:ext cx="9997135" cy="274320"/>
          </a:xfrm>
          <a:prstGeom prst="rect">
            <a:avLst/>
          </a:prstGeom>
          <a:noFill/>
        </p:spPr>
        <p:txBody>
          <a:bodyPr wrap="square" lIns="0" rIns="0" tIns="0" bIns="0" anchor="t">
            <a:spAutoFit/>
          </a:bodyPr>
          <a:lstStyle/>
          <a:p>
            <a:pPr algn="l"/>
            <a:r>
              <a:rPr sz="1500" b="1">
                <a:solidFill>
                  <a:srgbClr val="FFFFFF"/>
                </a:solidFill>
                <a:latin typeface="Helvetica Neue"/>
              </a:rPr>
              <a:t>🏢  PrimeInsurance Data Intelligence</a:t>
            </a:r>
          </a:p>
        </p:txBody>
      </p:sp>
      <p:sp>
        <p:nvSpPr>
          <p:cNvPr id="9" name="Rectangle 8"/>
          <p:cNvSpPr/>
          <p:nvPr/>
        </p:nvSpPr>
        <p:spPr>
          <a:xfrm>
            <a:off x="1097280" y="2651760"/>
            <a:ext cx="2396413" cy="141732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97280" y="2651760"/>
            <a:ext cx="2396413" cy="7315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40"/>
            <a:ext cx="2396413" cy="594360"/>
          </a:xfrm>
          <a:prstGeom prst="rect">
            <a:avLst/>
          </a:prstGeom>
          <a:noFill/>
        </p:spPr>
        <p:txBody>
          <a:bodyPr wrap="square" lIns="0" rIns="0" tIns="0" bIns="0" anchor="t">
            <a:spAutoFit/>
          </a:bodyPr>
          <a:lstStyle/>
          <a:p>
            <a:pPr algn="ctr"/>
            <a:r>
              <a:rPr sz="2800" b="1">
                <a:solidFill>
                  <a:srgbClr val="0B3D91"/>
                </a:solidFill>
                <a:latin typeface="Helvetica Neue"/>
              </a:rPr>
              <a:t>1,604</a:t>
            </a:r>
          </a:p>
        </p:txBody>
      </p:sp>
      <p:sp>
        <p:nvSpPr>
          <p:cNvPr id="12" name="TextBox 11"/>
          <p:cNvSpPr txBox="1"/>
          <p:nvPr/>
        </p:nvSpPr>
        <p:spPr>
          <a:xfrm>
            <a:off x="1097280" y="3474720"/>
            <a:ext cx="2396413" cy="274320"/>
          </a:xfrm>
          <a:prstGeom prst="rect">
            <a:avLst/>
          </a:prstGeom>
          <a:noFill/>
        </p:spPr>
        <p:txBody>
          <a:bodyPr wrap="square" lIns="0" rIns="0" tIns="0" bIns="0" anchor="t">
            <a:spAutoFit/>
          </a:bodyPr>
          <a:lstStyle/>
          <a:p>
            <a:pPr algn="ctr"/>
            <a:r>
              <a:rPr sz="1100" b="1">
                <a:solidFill>
                  <a:srgbClr val="1A1A1A"/>
                </a:solidFill>
                <a:latin typeface="Helvetica Neue"/>
              </a:rPr>
              <a:t>Unique customers</a:t>
            </a:r>
          </a:p>
        </p:txBody>
      </p:sp>
      <p:sp>
        <p:nvSpPr>
          <p:cNvPr id="13" name="TextBox 12"/>
          <p:cNvSpPr txBox="1"/>
          <p:nvPr/>
        </p:nvSpPr>
        <p:spPr>
          <a:xfrm>
            <a:off x="1097280" y="3721608"/>
            <a:ext cx="2396413" cy="274320"/>
          </a:xfrm>
          <a:prstGeom prst="rect">
            <a:avLst/>
          </a:prstGeom>
          <a:noFill/>
        </p:spPr>
        <p:txBody>
          <a:bodyPr wrap="square" lIns="0" rIns="0" tIns="0" bIns="0" anchor="t">
            <a:spAutoFit/>
          </a:bodyPr>
          <a:lstStyle/>
          <a:p>
            <a:pPr algn="ctr"/>
            <a:r>
              <a:rPr sz="900" b="0">
                <a:solidFill>
                  <a:srgbClr val="555555"/>
                </a:solidFill>
                <a:latin typeface="Helvetica Neue"/>
              </a:rPr>
              <a:t>For the regulator</a:t>
            </a:r>
          </a:p>
        </p:txBody>
      </p:sp>
      <p:sp>
        <p:nvSpPr>
          <p:cNvPr id="14" name="Rectangle 13"/>
          <p:cNvSpPr/>
          <p:nvPr/>
        </p:nvSpPr>
        <p:spPr>
          <a:xfrm>
            <a:off x="3630853" y="2651760"/>
            <a:ext cx="2396413" cy="141732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30853" y="2651760"/>
            <a:ext cx="2396413" cy="7315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0853" y="2834640"/>
            <a:ext cx="2396413" cy="594360"/>
          </a:xfrm>
          <a:prstGeom prst="rect">
            <a:avLst/>
          </a:prstGeom>
          <a:noFill/>
        </p:spPr>
        <p:txBody>
          <a:bodyPr wrap="square" lIns="0" rIns="0" tIns="0" bIns="0" anchor="t">
            <a:spAutoFit/>
          </a:bodyPr>
          <a:lstStyle/>
          <a:p>
            <a:pPr algn="ctr"/>
            <a:r>
              <a:rPr sz="2800" b="1">
                <a:solidFill>
                  <a:srgbClr val="0B3D91"/>
                </a:solidFill>
                <a:latin typeface="Helvetica Neue"/>
              </a:rPr>
              <a:t>1,000</a:t>
            </a:r>
          </a:p>
        </p:txBody>
      </p:sp>
      <p:sp>
        <p:nvSpPr>
          <p:cNvPr id="17" name="TextBox 16"/>
          <p:cNvSpPr txBox="1"/>
          <p:nvPr/>
        </p:nvSpPr>
        <p:spPr>
          <a:xfrm>
            <a:off x="3630853" y="3474720"/>
            <a:ext cx="2396413" cy="274320"/>
          </a:xfrm>
          <a:prstGeom prst="rect">
            <a:avLst/>
          </a:prstGeom>
          <a:noFill/>
        </p:spPr>
        <p:txBody>
          <a:bodyPr wrap="square" lIns="0" rIns="0" tIns="0" bIns="0" anchor="t">
            <a:spAutoFit/>
          </a:bodyPr>
          <a:lstStyle/>
          <a:p>
            <a:pPr algn="ctr"/>
            <a:r>
              <a:rPr sz="1100" b="1">
                <a:solidFill>
                  <a:srgbClr val="1A1A1A"/>
                </a:solidFill>
                <a:latin typeface="Helvetica Neue"/>
              </a:rPr>
              <a:t>Total claims</a:t>
            </a:r>
          </a:p>
        </p:txBody>
      </p:sp>
      <p:sp>
        <p:nvSpPr>
          <p:cNvPr id="18" name="TextBox 17"/>
          <p:cNvSpPr txBox="1"/>
          <p:nvPr/>
        </p:nvSpPr>
        <p:spPr>
          <a:xfrm>
            <a:off x="3630853" y="3721608"/>
            <a:ext cx="2396413" cy="274320"/>
          </a:xfrm>
          <a:prstGeom prst="rect">
            <a:avLst/>
          </a:prstGeom>
          <a:noFill/>
        </p:spPr>
        <p:txBody>
          <a:bodyPr wrap="square" lIns="0" rIns="0" tIns="0" bIns="0" anchor="t">
            <a:spAutoFit/>
          </a:bodyPr>
          <a:lstStyle/>
          <a:p>
            <a:pPr algn="ctr"/>
            <a:r>
              <a:rPr sz="900" b="0">
                <a:solidFill>
                  <a:srgbClr val="555555"/>
                </a:solidFill>
                <a:latin typeface="Helvetica Neue"/>
              </a:rPr>
              <a:t>Volume context</a:t>
            </a:r>
          </a:p>
        </p:txBody>
      </p:sp>
      <p:sp>
        <p:nvSpPr>
          <p:cNvPr id="19" name="Rectangle 18"/>
          <p:cNvSpPr/>
          <p:nvPr/>
        </p:nvSpPr>
        <p:spPr>
          <a:xfrm>
            <a:off x="6164427" y="2651760"/>
            <a:ext cx="2396413" cy="141732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64427" y="2651760"/>
            <a:ext cx="2396413" cy="73152"/>
          </a:xfrm>
          <a:prstGeom prst="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64427" y="2834640"/>
            <a:ext cx="2396413" cy="594360"/>
          </a:xfrm>
          <a:prstGeom prst="rect">
            <a:avLst/>
          </a:prstGeom>
          <a:noFill/>
        </p:spPr>
        <p:txBody>
          <a:bodyPr wrap="square" lIns="0" rIns="0" tIns="0" bIns="0" anchor="t">
            <a:spAutoFit/>
          </a:bodyPr>
          <a:lstStyle/>
          <a:p>
            <a:pPr algn="ctr"/>
            <a:r>
              <a:rPr sz="2800" b="1">
                <a:solidFill>
                  <a:srgbClr val="B02A2A"/>
                </a:solidFill>
                <a:latin typeface="Helvetica Neue"/>
              </a:rPr>
              <a:t>276</a:t>
            </a:r>
          </a:p>
        </p:txBody>
      </p:sp>
      <p:sp>
        <p:nvSpPr>
          <p:cNvPr id="22" name="TextBox 21"/>
          <p:cNvSpPr txBox="1"/>
          <p:nvPr/>
        </p:nvSpPr>
        <p:spPr>
          <a:xfrm>
            <a:off x="6164427" y="3474720"/>
            <a:ext cx="2396413" cy="274320"/>
          </a:xfrm>
          <a:prstGeom prst="rect">
            <a:avLst/>
          </a:prstGeom>
          <a:noFill/>
        </p:spPr>
        <p:txBody>
          <a:bodyPr wrap="square" lIns="0" rIns="0" tIns="0" bIns="0" anchor="t">
            <a:spAutoFit/>
          </a:bodyPr>
          <a:lstStyle/>
          <a:p>
            <a:pPr algn="ctr"/>
            <a:r>
              <a:rPr sz="1100" b="1">
                <a:solidFill>
                  <a:srgbClr val="1A1A1A"/>
                </a:solidFill>
                <a:latin typeface="Helvetica Neue"/>
              </a:rPr>
              <a:t>Rejected claims</a:t>
            </a:r>
          </a:p>
        </p:txBody>
      </p:sp>
      <p:sp>
        <p:nvSpPr>
          <p:cNvPr id="23" name="TextBox 22"/>
          <p:cNvSpPr txBox="1"/>
          <p:nvPr/>
        </p:nvSpPr>
        <p:spPr>
          <a:xfrm>
            <a:off x="6164427" y="3721608"/>
            <a:ext cx="2396413" cy="274320"/>
          </a:xfrm>
          <a:prstGeom prst="rect">
            <a:avLst/>
          </a:prstGeom>
          <a:noFill/>
        </p:spPr>
        <p:txBody>
          <a:bodyPr wrap="square" lIns="0" rIns="0" tIns="0" bIns="0" anchor="t">
            <a:spAutoFit/>
          </a:bodyPr>
          <a:lstStyle/>
          <a:p>
            <a:pPr algn="ctr"/>
            <a:r>
              <a:rPr sz="900" b="0">
                <a:solidFill>
                  <a:srgbClr val="555555"/>
                </a:solidFill>
                <a:latin typeface="Helvetica Neue"/>
              </a:rPr>
              <a:t>Backlog signal</a:t>
            </a:r>
          </a:p>
        </p:txBody>
      </p:sp>
      <p:sp>
        <p:nvSpPr>
          <p:cNvPr id="24" name="Rectangle 23"/>
          <p:cNvSpPr/>
          <p:nvPr/>
        </p:nvSpPr>
        <p:spPr>
          <a:xfrm>
            <a:off x="8698001" y="2651760"/>
            <a:ext cx="2396413" cy="141732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698001" y="2651760"/>
            <a:ext cx="2396413" cy="73152"/>
          </a:xfrm>
          <a:prstGeom prst="rect">
            <a:avLst/>
          </a:prstGeom>
          <a:solidFill>
            <a:srgbClr val="D86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98001" y="2834640"/>
            <a:ext cx="2396413" cy="594360"/>
          </a:xfrm>
          <a:prstGeom prst="rect">
            <a:avLst/>
          </a:prstGeom>
          <a:noFill/>
        </p:spPr>
        <p:txBody>
          <a:bodyPr wrap="square" lIns="0" rIns="0" tIns="0" bIns="0" anchor="t">
            <a:spAutoFit/>
          </a:bodyPr>
          <a:lstStyle/>
          <a:p>
            <a:pPr algn="ctr"/>
            <a:r>
              <a:rPr sz="2800" b="1">
                <a:solidFill>
                  <a:srgbClr val="D86820"/>
                </a:solidFill>
                <a:latin typeface="Helvetica Neue"/>
              </a:rPr>
              <a:t>176</a:t>
            </a:r>
          </a:p>
        </p:txBody>
      </p:sp>
      <p:sp>
        <p:nvSpPr>
          <p:cNvPr id="27" name="TextBox 26"/>
          <p:cNvSpPr txBox="1"/>
          <p:nvPr/>
        </p:nvSpPr>
        <p:spPr>
          <a:xfrm>
            <a:off x="8698001" y="3474720"/>
            <a:ext cx="2396413" cy="274320"/>
          </a:xfrm>
          <a:prstGeom prst="rect">
            <a:avLst/>
          </a:prstGeom>
          <a:noFill/>
        </p:spPr>
        <p:txBody>
          <a:bodyPr wrap="square" lIns="0" rIns="0" tIns="0" bIns="0" anchor="t">
            <a:spAutoFit/>
          </a:bodyPr>
          <a:lstStyle/>
          <a:p>
            <a:pPr algn="ctr"/>
            <a:r>
              <a:rPr sz="1100" b="1">
                <a:solidFill>
                  <a:srgbClr val="1A1A1A"/>
                </a:solidFill>
                <a:latin typeface="Helvetica Neue"/>
              </a:rPr>
              <a:t>Aging inventory</a:t>
            </a:r>
          </a:p>
        </p:txBody>
      </p:sp>
      <p:sp>
        <p:nvSpPr>
          <p:cNvPr id="28" name="TextBox 27"/>
          <p:cNvSpPr txBox="1"/>
          <p:nvPr/>
        </p:nvSpPr>
        <p:spPr>
          <a:xfrm>
            <a:off x="8698001" y="3721608"/>
            <a:ext cx="2396413" cy="274320"/>
          </a:xfrm>
          <a:prstGeom prst="rect">
            <a:avLst/>
          </a:prstGeom>
          <a:noFill/>
        </p:spPr>
        <p:txBody>
          <a:bodyPr wrap="square" lIns="0" rIns="0" tIns="0" bIns="0" anchor="t">
            <a:spAutoFit/>
          </a:bodyPr>
          <a:lstStyle/>
          <a:p>
            <a:pPr algn="ctr"/>
            <a:r>
              <a:rPr sz="900" b="0">
                <a:solidFill>
                  <a:srgbClr val="555555"/>
                </a:solidFill>
                <a:latin typeface="Helvetica Neue"/>
              </a:rPr>
              <a:t>Stale + Critical cars</a:t>
            </a:r>
          </a:p>
        </p:txBody>
      </p:sp>
      <p:sp>
        <p:nvSpPr>
          <p:cNvPr id="29" name="TextBox 28"/>
          <p:cNvSpPr txBox="1"/>
          <p:nvPr/>
        </p:nvSpPr>
        <p:spPr>
          <a:xfrm>
            <a:off x="1097280" y="4343400"/>
            <a:ext cx="9997135" cy="320040"/>
          </a:xfrm>
          <a:prstGeom prst="rect">
            <a:avLst/>
          </a:prstGeom>
          <a:noFill/>
        </p:spPr>
        <p:txBody>
          <a:bodyPr wrap="square" lIns="0" rIns="0" tIns="0" bIns="0" anchor="t">
            <a:spAutoFit/>
          </a:bodyPr>
          <a:lstStyle/>
          <a:p>
            <a:pPr algn="l"/>
            <a:r>
              <a:rPr sz="1300" b="1">
                <a:solidFill>
                  <a:srgbClr val="1A1A1A"/>
                </a:solidFill>
                <a:latin typeface="Helvetica Neue"/>
              </a:rPr>
              <a:t>Ask a question in plain English</a:t>
            </a:r>
          </a:p>
        </p:txBody>
      </p:sp>
      <p:sp>
        <p:nvSpPr>
          <p:cNvPr id="30" name="Rectangle 29"/>
          <p:cNvSpPr/>
          <p:nvPr/>
        </p:nvSpPr>
        <p:spPr>
          <a:xfrm>
            <a:off x="1097280" y="4709160"/>
            <a:ext cx="9997135" cy="411480"/>
          </a:xfrm>
          <a:prstGeom prst="rect">
            <a:avLst/>
          </a:prstGeom>
          <a:solidFill>
            <a:srgbClr val="F0F4FA"/>
          </a:solidFill>
          <a:ln w="12700">
            <a:solidFill>
              <a:srgbClr val="C8D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34440" y="4800600"/>
            <a:ext cx="9722815" cy="274320"/>
          </a:xfrm>
          <a:prstGeom prst="rect">
            <a:avLst/>
          </a:prstGeom>
          <a:noFill/>
        </p:spPr>
        <p:txBody>
          <a:bodyPr wrap="square" lIns="0" rIns="0" tIns="0" bIns="0" anchor="t">
            <a:spAutoFit/>
          </a:bodyPr>
          <a:lstStyle/>
          <a:p>
            <a:pPr algn="l"/>
            <a:r>
              <a:rPr sz="1100" b="0">
                <a:solidFill>
                  <a:srgbClr val="555555"/>
                </a:solidFill>
                <a:latin typeface="Helvetica Neue"/>
              </a:rPr>
              <a:t>e.g. Which region has the highest claim volume?</a:t>
            </a:r>
          </a:p>
        </p:txBody>
      </p:sp>
      <p:sp>
        <p:nvSpPr>
          <p:cNvPr id="32" name="Rectangle 31"/>
          <p:cNvSpPr/>
          <p:nvPr/>
        </p:nvSpPr>
        <p:spPr>
          <a:xfrm>
            <a:off x="1097280" y="5212080"/>
            <a:ext cx="1188720" cy="36576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97280" y="5239512"/>
            <a:ext cx="1188720" cy="320040"/>
          </a:xfrm>
          <a:prstGeom prst="rect">
            <a:avLst/>
          </a:prstGeom>
          <a:noFill/>
        </p:spPr>
        <p:txBody>
          <a:bodyPr wrap="square" lIns="0" rIns="0" tIns="0" bIns="0" anchor="t">
            <a:spAutoFit/>
          </a:bodyPr>
          <a:lstStyle/>
          <a:p>
            <a:pPr algn="ctr"/>
            <a:r>
              <a:rPr sz="1200" b="1">
                <a:solidFill>
                  <a:srgbClr val="FFFFFF"/>
                </a:solidFill>
                <a:latin typeface="Helvetica Neue"/>
              </a:rPr>
              <a:t>Ask Genie</a:t>
            </a:r>
          </a:p>
        </p:txBody>
      </p:sp>
      <p:sp>
        <p:nvSpPr>
          <p:cNvPr id="34" name="TextBox 33"/>
          <p:cNvSpPr txBox="1"/>
          <p:nvPr/>
        </p:nvSpPr>
        <p:spPr>
          <a:xfrm>
            <a:off x="457200" y="6263640"/>
            <a:ext cx="11247120" cy="320040"/>
          </a:xfrm>
          <a:prstGeom prst="rect">
            <a:avLst/>
          </a:prstGeom>
          <a:noFill/>
        </p:spPr>
        <p:txBody>
          <a:bodyPr wrap="square" lIns="0" rIns="0" tIns="0" bIns="0" anchor="t">
            <a:spAutoFit/>
          </a:bodyPr>
          <a:lstStyle/>
          <a:p>
            <a:pPr algn="ctr"/>
            <a:r>
              <a:rPr sz="1200" b="1">
                <a:solidFill>
                  <a:srgbClr val="0B3D91"/>
                </a:solidFill>
                <a:latin typeface="Helvetica Neue"/>
              </a:rPr>
              <a:t>No SQL. No dashboards to learn. No training. One URL — opens, answers, acts.</a:t>
            </a:r>
          </a:p>
        </p:txBody>
      </p:sp>
      <p:sp>
        <p:nvSpPr>
          <p:cNvPr id="35" name="TextBox 34"/>
          <p:cNvSpPr txBox="1"/>
          <p:nvPr/>
        </p:nvSpPr>
        <p:spPr>
          <a:xfrm>
            <a:off x="457200" y="6446520"/>
            <a:ext cx="8229600" cy="274320"/>
          </a:xfrm>
          <a:prstGeom prst="rect">
            <a:avLst/>
          </a:prstGeom>
          <a:noFill/>
        </p:spPr>
        <p:txBody>
          <a:bodyPr wrap="square" lIns="0" rIns="0" tIns="0" bIns="0" anchor="t">
            <a:spAutoFit/>
          </a:bodyPr>
          <a:lstStyle/>
          <a:p>
            <a:pPr algn="l"/>
            <a:r>
              <a:rPr sz="900" b="0">
                <a:solidFill>
                  <a:srgbClr val="555555"/>
                </a:solidFill>
                <a:latin typeface="Helvetica Neue"/>
              </a:rPr>
              <a:t>PrimeInsurance Data Intelligence Platform  ·  Jellyfish Technologies</a:t>
            </a:r>
          </a:p>
        </p:txBody>
      </p:sp>
      <p:sp>
        <p:nvSpPr>
          <p:cNvPr id="36" name="TextBox 35"/>
          <p:cNvSpPr txBox="1"/>
          <p:nvPr/>
        </p:nvSpPr>
        <p:spPr>
          <a:xfrm>
            <a:off x="11247120" y="6446520"/>
            <a:ext cx="731520" cy="274320"/>
          </a:xfrm>
          <a:prstGeom prst="rect">
            <a:avLst/>
          </a:prstGeom>
          <a:noFill/>
        </p:spPr>
        <p:txBody>
          <a:bodyPr wrap="square" lIns="0" rIns="0" tIns="0" bIns="0" anchor="t">
            <a:spAutoFit/>
          </a:bodyPr>
          <a:lstStyle/>
          <a:p>
            <a:pPr algn="r"/>
            <a:r>
              <a:rPr sz="900" b="0">
                <a:solidFill>
                  <a:srgbClr val="555555"/>
                </a:solidFill>
                <a:latin typeface="Helvetica Neue"/>
              </a:rP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lIns="0" rIns="0" tIns="0" bIns="0" anchor="t">
            <a:spAutoFit/>
          </a:bodyPr>
          <a:lstStyle/>
          <a:p>
            <a:pPr algn="l"/>
            <a:r>
              <a:rPr sz="1100" b="1">
                <a:solidFill>
                  <a:srgbClr val="0B3D91"/>
                </a:solidFill>
                <a:latin typeface="Helvetica Neue"/>
              </a:rPr>
              <a:t>05  ·  PROOF IT WORKS</a:t>
            </a:r>
          </a:p>
        </p:txBody>
      </p:sp>
      <p:sp>
        <p:nvSpPr>
          <p:cNvPr id="4" name="TextBox 3"/>
          <p:cNvSpPr txBox="1"/>
          <p:nvPr/>
        </p:nvSpPr>
        <p:spPr>
          <a:xfrm>
            <a:off x="457200" y="594360"/>
            <a:ext cx="10972800" cy="822960"/>
          </a:xfrm>
          <a:prstGeom prst="rect">
            <a:avLst/>
          </a:prstGeom>
          <a:noFill/>
        </p:spPr>
        <p:txBody>
          <a:bodyPr wrap="square" lIns="0" rIns="0" tIns="0" bIns="0" anchor="t">
            <a:spAutoFit/>
          </a:bodyPr>
          <a:lstStyle/>
          <a:p>
            <a:pPr algn="l"/>
            <a:r>
              <a:rPr sz="2800" b="1">
                <a:solidFill>
                  <a:srgbClr val="1A1A1A"/>
                </a:solidFill>
                <a:latin typeface="Helvetica Neue"/>
              </a:rPr>
              <a:t>Not a demo — a tested system</a:t>
            </a:r>
          </a:p>
        </p:txBody>
      </p:sp>
      <p:sp>
        <p:nvSpPr>
          <p:cNvPr id="5" name="TextBox 4"/>
          <p:cNvSpPr txBox="1"/>
          <p:nvPr/>
        </p:nvSpPr>
        <p:spPr>
          <a:xfrm>
            <a:off x="457200" y="1508760"/>
            <a:ext cx="11247120" cy="365760"/>
          </a:xfrm>
          <a:prstGeom prst="rect">
            <a:avLst/>
          </a:prstGeom>
          <a:noFill/>
        </p:spPr>
        <p:txBody>
          <a:bodyPr wrap="square" lIns="0" rIns="0" tIns="0" bIns="0" anchor="t">
            <a:spAutoFit/>
          </a:bodyPr>
          <a:lstStyle/>
          <a:p>
            <a:pPr algn="l"/>
            <a:r>
              <a:rPr sz="1300" b="0">
                <a:solidFill>
                  <a:srgbClr val="555555"/>
                </a:solidFill>
                <a:latin typeface="Helvetica Neue"/>
              </a:rPr>
              <a:t>Three kinds of evidence: exact data parity, real question testing, and the trick question that proves the AI is actually steered.</a:t>
            </a:r>
          </a:p>
        </p:txBody>
      </p:sp>
      <p:sp>
        <p:nvSpPr>
          <p:cNvPr id="6" name="Rectangle 5"/>
          <p:cNvSpPr/>
          <p:nvPr/>
        </p:nvSpPr>
        <p:spPr>
          <a:xfrm>
            <a:off x="457200" y="2011680"/>
            <a:ext cx="5760720" cy="411480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11680"/>
            <a:ext cx="91440" cy="41148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5212080" cy="365760"/>
          </a:xfrm>
          <a:prstGeom prst="rect">
            <a:avLst/>
          </a:prstGeom>
          <a:noFill/>
        </p:spPr>
        <p:txBody>
          <a:bodyPr wrap="square" lIns="0" rIns="0" tIns="0" bIns="0" anchor="t">
            <a:spAutoFit/>
          </a:bodyPr>
          <a:lstStyle/>
          <a:p>
            <a:pPr algn="l"/>
            <a:r>
              <a:rPr sz="1100" b="1">
                <a:solidFill>
                  <a:srgbClr val="0B3D91"/>
                </a:solidFill>
                <a:latin typeface="Helvetica Neue"/>
              </a:rPr>
              <a:t>DATA PARITY</a:t>
            </a:r>
          </a:p>
        </p:txBody>
      </p:sp>
      <p:sp>
        <p:nvSpPr>
          <p:cNvPr id="9" name="TextBox 8"/>
          <p:cNvSpPr txBox="1"/>
          <p:nvPr/>
        </p:nvSpPr>
        <p:spPr>
          <a:xfrm>
            <a:off x="731520" y="2514600"/>
            <a:ext cx="5212080" cy="502920"/>
          </a:xfrm>
          <a:prstGeom prst="rect">
            <a:avLst/>
          </a:prstGeom>
          <a:noFill/>
        </p:spPr>
        <p:txBody>
          <a:bodyPr wrap="square" lIns="0" rIns="0" tIns="0" bIns="0" anchor="t">
            <a:spAutoFit/>
          </a:bodyPr>
          <a:lstStyle/>
          <a:p>
            <a:pPr algn="l"/>
            <a:r>
              <a:rPr sz="1800" b="1">
                <a:solidFill>
                  <a:srgbClr val="1A1A1A"/>
                </a:solidFill>
                <a:latin typeface="Helvetica Neue"/>
              </a:rPr>
              <a:t>Every number matches.</a:t>
            </a:r>
          </a:p>
        </p:txBody>
      </p:sp>
      <p:sp>
        <p:nvSpPr>
          <p:cNvPr id="10" name="TextBox 9"/>
          <p:cNvSpPr txBox="1"/>
          <p:nvPr/>
        </p:nvSpPr>
        <p:spPr>
          <a:xfrm>
            <a:off x="731520" y="3108960"/>
            <a:ext cx="5212080" cy="320040"/>
          </a:xfrm>
          <a:prstGeom prst="rect">
            <a:avLst/>
          </a:prstGeom>
          <a:noFill/>
        </p:spPr>
        <p:txBody>
          <a:bodyPr wrap="square" lIns="0" rIns="0" tIns="0" bIns="0" anchor="t">
            <a:spAutoFit/>
          </a:bodyPr>
          <a:lstStyle/>
          <a:p>
            <a:pPr algn="l"/>
            <a:r>
              <a:rPr sz="1100" b="0">
                <a:solidFill>
                  <a:srgbClr val="555555"/>
                </a:solidFill>
                <a:latin typeface="Helvetica Neue"/>
              </a:rPr>
              <a:t>Same data in dev and in production — proof the pipeline is reproducible.</a:t>
            </a:r>
          </a:p>
        </p:txBody>
      </p:sp>
      <p:sp>
        <p:nvSpPr>
          <p:cNvPr id="11" name="Rectangle 10"/>
          <p:cNvSpPr/>
          <p:nvPr/>
        </p:nvSpPr>
        <p:spPr>
          <a:xfrm>
            <a:off x="731520" y="3611880"/>
            <a:ext cx="969264" cy="502920"/>
          </a:xfrm>
          <a:prstGeom prst="rect">
            <a:avLst/>
          </a:prstGeom>
          <a:solidFill>
            <a:srgbClr val="FFFFFF"/>
          </a:solidFill>
          <a:ln w="12700">
            <a:solidFill>
              <a:srgbClr val="C8D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657600"/>
            <a:ext cx="969264" cy="274320"/>
          </a:xfrm>
          <a:prstGeom prst="rect">
            <a:avLst/>
          </a:prstGeom>
          <a:noFill/>
        </p:spPr>
        <p:txBody>
          <a:bodyPr wrap="square" lIns="0" rIns="0" tIns="0" bIns="0" anchor="t">
            <a:spAutoFit/>
          </a:bodyPr>
          <a:lstStyle/>
          <a:p>
            <a:pPr algn="ctr"/>
            <a:r>
              <a:rPr sz="1400" b="1">
                <a:solidFill>
                  <a:srgbClr val="0B3D91"/>
                </a:solidFill>
                <a:latin typeface="Helvetica Neue"/>
              </a:rPr>
              <a:t>1,604</a:t>
            </a:r>
          </a:p>
        </p:txBody>
      </p:sp>
      <p:sp>
        <p:nvSpPr>
          <p:cNvPr id="13" name="TextBox 12"/>
          <p:cNvSpPr txBox="1"/>
          <p:nvPr/>
        </p:nvSpPr>
        <p:spPr>
          <a:xfrm>
            <a:off x="731520" y="3904488"/>
            <a:ext cx="969264" cy="182880"/>
          </a:xfrm>
          <a:prstGeom prst="rect">
            <a:avLst/>
          </a:prstGeom>
          <a:noFill/>
        </p:spPr>
        <p:txBody>
          <a:bodyPr wrap="square" lIns="0" rIns="0" tIns="0" bIns="0" anchor="t">
            <a:spAutoFit/>
          </a:bodyPr>
          <a:lstStyle/>
          <a:p>
            <a:pPr algn="ctr"/>
            <a:r>
              <a:rPr sz="800" b="0">
                <a:solidFill>
                  <a:srgbClr val="555555"/>
                </a:solidFill>
                <a:latin typeface="Helvetica Neue"/>
              </a:rPr>
              <a:t>customers</a:t>
            </a:r>
          </a:p>
        </p:txBody>
      </p:sp>
      <p:sp>
        <p:nvSpPr>
          <p:cNvPr id="14" name="Rectangle 13"/>
          <p:cNvSpPr/>
          <p:nvPr/>
        </p:nvSpPr>
        <p:spPr>
          <a:xfrm>
            <a:off x="1792224" y="3611880"/>
            <a:ext cx="969264" cy="502920"/>
          </a:xfrm>
          <a:prstGeom prst="rect">
            <a:avLst/>
          </a:prstGeom>
          <a:solidFill>
            <a:srgbClr val="FFFFFF"/>
          </a:solidFill>
          <a:ln w="12700">
            <a:solidFill>
              <a:srgbClr val="C8D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92224" y="3657600"/>
            <a:ext cx="969264" cy="274320"/>
          </a:xfrm>
          <a:prstGeom prst="rect">
            <a:avLst/>
          </a:prstGeom>
          <a:noFill/>
        </p:spPr>
        <p:txBody>
          <a:bodyPr wrap="square" lIns="0" rIns="0" tIns="0" bIns="0" anchor="t">
            <a:spAutoFit/>
          </a:bodyPr>
          <a:lstStyle/>
          <a:p>
            <a:pPr algn="ctr"/>
            <a:r>
              <a:rPr sz="1400" b="1">
                <a:solidFill>
                  <a:srgbClr val="0B3D91"/>
                </a:solidFill>
                <a:latin typeface="Helvetica Neue"/>
              </a:rPr>
              <a:t>1,000</a:t>
            </a:r>
          </a:p>
        </p:txBody>
      </p:sp>
      <p:sp>
        <p:nvSpPr>
          <p:cNvPr id="16" name="TextBox 15"/>
          <p:cNvSpPr txBox="1"/>
          <p:nvPr/>
        </p:nvSpPr>
        <p:spPr>
          <a:xfrm>
            <a:off x="1792224" y="3904488"/>
            <a:ext cx="969264" cy="182880"/>
          </a:xfrm>
          <a:prstGeom prst="rect">
            <a:avLst/>
          </a:prstGeom>
          <a:noFill/>
        </p:spPr>
        <p:txBody>
          <a:bodyPr wrap="square" lIns="0" rIns="0" tIns="0" bIns="0" anchor="t">
            <a:spAutoFit/>
          </a:bodyPr>
          <a:lstStyle/>
          <a:p>
            <a:pPr algn="ctr"/>
            <a:r>
              <a:rPr sz="800" b="0">
                <a:solidFill>
                  <a:srgbClr val="555555"/>
                </a:solidFill>
                <a:latin typeface="Helvetica Neue"/>
              </a:rPr>
              <a:t>claims</a:t>
            </a:r>
          </a:p>
        </p:txBody>
      </p:sp>
      <p:sp>
        <p:nvSpPr>
          <p:cNvPr id="17" name="Rectangle 16"/>
          <p:cNvSpPr/>
          <p:nvPr/>
        </p:nvSpPr>
        <p:spPr>
          <a:xfrm>
            <a:off x="2852928" y="3611880"/>
            <a:ext cx="969264" cy="502920"/>
          </a:xfrm>
          <a:prstGeom prst="rect">
            <a:avLst/>
          </a:prstGeom>
          <a:solidFill>
            <a:srgbClr val="FFFFFF"/>
          </a:solidFill>
          <a:ln w="12700">
            <a:solidFill>
              <a:srgbClr val="C8D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52928" y="3657600"/>
            <a:ext cx="969264" cy="274320"/>
          </a:xfrm>
          <a:prstGeom prst="rect">
            <a:avLst/>
          </a:prstGeom>
          <a:noFill/>
        </p:spPr>
        <p:txBody>
          <a:bodyPr wrap="square" lIns="0" rIns="0" tIns="0" bIns="0" anchor="t">
            <a:spAutoFit/>
          </a:bodyPr>
          <a:lstStyle/>
          <a:p>
            <a:pPr algn="ctr"/>
            <a:r>
              <a:rPr sz="1400" b="1">
                <a:solidFill>
                  <a:srgbClr val="0B3D91"/>
                </a:solidFill>
                <a:latin typeface="Helvetica Neue"/>
              </a:rPr>
              <a:t>128</a:t>
            </a:r>
          </a:p>
        </p:txBody>
      </p:sp>
      <p:sp>
        <p:nvSpPr>
          <p:cNvPr id="19" name="TextBox 18"/>
          <p:cNvSpPr txBox="1"/>
          <p:nvPr/>
        </p:nvSpPr>
        <p:spPr>
          <a:xfrm>
            <a:off x="2852928" y="3904488"/>
            <a:ext cx="969264" cy="182880"/>
          </a:xfrm>
          <a:prstGeom prst="rect">
            <a:avLst/>
          </a:prstGeom>
          <a:noFill/>
        </p:spPr>
        <p:txBody>
          <a:bodyPr wrap="square" lIns="0" rIns="0" tIns="0" bIns="0" anchor="t">
            <a:spAutoFit/>
          </a:bodyPr>
          <a:lstStyle/>
          <a:p>
            <a:pPr algn="ctr"/>
            <a:r>
              <a:rPr sz="800" b="0">
                <a:solidFill>
                  <a:srgbClr val="555555"/>
                </a:solidFill>
                <a:latin typeface="Helvetica Neue"/>
              </a:rPr>
              <a:t>fraud flags</a:t>
            </a:r>
          </a:p>
        </p:txBody>
      </p:sp>
      <p:sp>
        <p:nvSpPr>
          <p:cNvPr id="20" name="Rectangle 19"/>
          <p:cNvSpPr/>
          <p:nvPr/>
        </p:nvSpPr>
        <p:spPr>
          <a:xfrm>
            <a:off x="3913632" y="3611880"/>
            <a:ext cx="969264" cy="502920"/>
          </a:xfrm>
          <a:prstGeom prst="rect">
            <a:avLst/>
          </a:prstGeom>
          <a:solidFill>
            <a:srgbClr val="FFFFFF"/>
          </a:solidFill>
          <a:ln w="12700">
            <a:solidFill>
              <a:srgbClr val="C8D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13632" y="3657600"/>
            <a:ext cx="969264" cy="274320"/>
          </a:xfrm>
          <a:prstGeom prst="rect">
            <a:avLst/>
          </a:prstGeom>
          <a:noFill/>
        </p:spPr>
        <p:txBody>
          <a:bodyPr wrap="square" lIns="0" rIns="0" tIns="0" bIns="0" anchor="t">
            <a:spAutoFit/>
          </a:bodyPr>
          <a:lstStyle/>
          <a:p>
            <a:pPr algn="ctr"/>
            <a:r>
              <a:rPr sz="1400" b="1">
                <a:solidFill>
                  <a:srgbClr val="0B3D91"/>
                </a:solidFill>
                <a:latin typeface="Helvetica Neue"/>
              </a:rPr>
              <a:t>999</a:t>
            </a:r>
          </a:p>
        </p:txBody>
      </p:sp>
      <p:sp>
        <p:nvSpPr>
          <p:cNvPr id="22" name="TextBox 21"/>
          <p:cNvSpPr txBox="1"/>
          <p:nvPr/>
        </p:nvSpPr>
        <p:spPr>
          <a:xfrm>
            <a:off x="3913632" y="3904488"/>
            <a:ext cx="969264" cy="182880"/>
          </a:xfrm>
          <a:prstGeom prst="rect">
            <a:avLst/>
          </a:prstGeom>
          <a:noFill/>
        </p:spPr>
        <p:txBody>
          <a:bodyPr wrap="square" lIns="0" rIns="0" tIns="0" bIns="0" anchor="t">
            <a:spAutoFit/>
          </a:bodyPr>
          <a:lstStyle/>
          <a:p>
            <a:pPr algn="ctr"/>
            <a:r>
              <a:rPr sz="800" b="0">
                <a:solidFill>
                  <a:srgbClr val="555555"/>
                </a:solidFill>
                <a:latin typeface="Helvetica Neue"/>
              </a:rPr>
              <a:t>policies</a:t>
            </a:r>
          </a:p>
        </p:txBody>
      </p:sp>
      <p:sp>
        <p:nvSpPr>
          <p:cNvPr id="23" name="Rectangle 22"/>
          <p:cNvSpPr/>
          <p:nvPr/>
        </p:nvSpPr>
        <p:spPr>
          <a:xfrm>
            <a:off x="4974336" y="3611880"/>
            <a:ext cx="969264" cy="502920"/>
          </a:xfrm>
          <a:prstGeom prst="rect">
            <a:avLst/>
          </a:prstGeom>
          <a:solidFill>
            <a:srgbClr val="FFFFFF"/>
          </a:solidFill>
          <a:ln w="12700">
            <a:solidFill>
              <a:srgbClr val="C8D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74336" y="3657600"/>
            <a:ext cx="969264" cy="274320"/>
          </a:xfrm>
          <a:prstGeom prst="rect">
            <a:avLst/>
          </a:prstGeom>
          <a:noFill/>
        </p:spPr>
        <p:txBody>
          <a:bodyPr wrap="square" lIns="0" rIns="0" tIns="0" bIns="0" anchor="t">
            <a:spAutoFit/>
          </a:bodyPr>
          <a:lstStyle/>
          <a:p>
            <a:pPr algn="ctr"/>
            <a:r>
              <a:rPr sz="1400" b="1">
                <a:solidFill>
                  <a:srgbClr val="0B3D91"/>
                </a:solidFill>
                <a:latin typeface="Helvetica Neue"/>
              </a:rPr>
              <a:t>2,500</a:t>
            </a:r>
          </a:p>
        </p:txBody>
      </p:sp>
      <p:sp>
        <p:nvSpPr>
          <p:cNvPr id="25" name="TextBox 24"/>
          <p:cNvSpPr txBox="1"/>
          <p:nvPr/>
        </p:nvSpPr>
        <p:spPr>
          <a:xfrm>
            <a:off x="4974336" y="3904488"/>
            <a:ext cx="969264" cy="182880"/>
          </a:xfrm>
          <a:prstGeom prst="rect">
            <a:avLst/>
          </a:prstGeom>
          <a:noFill/>
        </p:spPr>
        <p:txBody>
          <a:bodyPr wrap="square" lIns="0" rIns="0" tIns="0" bIns="0" anchor="t">
            <a:spAutoFit/>
          </a:bodyPr>
          <a:lstStyle/>
          <a:p>
            <a:pPr algn="ctr"/>
            <a:r>
              <a:rPr sz="800" b="0">
                <a:solidFill>
                  <a:srgbClr val="555555"/>
                </a:solidFill>
                <a:latin typeface="Helvetica Neue"/>
              </a:rPr>
              <a:t>cars</a:t>
            </a:r>
          </a:p>
        </p:txBody>
      </p:sp>
      <p:sp>
        <p:nvSpPr>
          <p:cNvPr id="26" name="TextBox 25"/>
          <p:cNvSpPr txBox="1"/>
          <p:nvPr/>
        </p:nvSpPr>
        <p:spPr>
          <a:xfrm>
            <a:off x="731520" y="4343400"/>
            <a:ext cx="5212080" cy="320040"/>
          </a:xfrm>
          <a:prstGeom prst="rect">
            <a:avLst/>
          </a:prstGeom>
          <a:noFill/>
        </p:spPr>
        <p:txBody>
          <a:bodyPr wrap="square" lIns="0" rIns="0" tIns="0" bIns="0" anchor="t">
            <a:spAutoFit/>
          </a:bodyPr>
          <a:lstStyle/>
          <a:p>
            <a:pPr algn="l"/>
            <a:r>
              <a:rPr sz="1100" b="1">
                <a:solidFill>
                  <a:srgbClr val="1F7A3E"/>
                </a:solidFill>
                <a:latin typeface="Helvetica Neue"/>
              </a:rPr>
              <a:t>dev ↔ prod, table by table, row for row.</a:t>
            </a:r>
          </a:p>
        </p:txBody>
      </p:sp>
      <p:sp>
        <p:nvSpPr>
          <p:cNvPr id="27" name="TextBox 26"/>
          <p:cNvSpPr txBox="1"/>
          <p:nvPr/>
        </p:nvSpPr>
        <p:spPr>
          <a:xfrm>
            <a:off x="731520" y="4800600"/>
            <a:ext cx="5212080" cy="274320"/>
          </a:xfrm>
          <a:prstGeom prst="rect">
            <a:avLst/>
          </a:prstGeom>
          <a:noFill/>
        </p:spPr>
        <p:txBody>
          <a:bodyPr wrap="square" lIns="0" rIns="0" tIns="0" bIns="0" anchor="t">
            <a:spAutoFit/>
          </a:bodyPr>
          <a:lstStyle/>
          <a:p>
            <a:pPr algn="l"/>
            <a:r>
              <a:rPr sz="1000" b="0">
                <a:solidFill>
                  <a:srgbClr val="555555"/>
                </a:solidFill>
                <a:latin typeface="Helvetica Neue"/>
              </a:rPr>
              <a:t>Only difference: one duplicate sales_id caught by the production layer's stricter constraints — a real data quality bug Gold was hiding.</a:t>
            </a:r>
          </a:p>
        </p:txBody>
      </p:sp>
      <p:sp>
        <p:nvSpPr>
          <p:cNvPr id="28" name="Rectangle 27"/>
          <p:cNvSpPr/>
          <p:nvPr/>
        </p:nvSpPr>
        <p:spPr>
          <a:xfrm>
            <a:off x="6309360" y="2011680"/>
            <a:ext cx="5425135" cy="4114800"/>
          </a:xfrm>
          <a:prstGeom prst="rect">
            <a:avLst/>
          </a:prstGeom>
          <a:solidFill>
            <a:srgbClr val="FFFFFF"/>
          </a:solidFill>
          <a:ln w="12700">
            <a:solidFill>
              <a:srgbClr val="C8D4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0" y="2240280"/>
            <a:ext cx="4876495" cy="365760"/>
          </a:xfrm>
          <a:prstGeom prst="rect">
            <a:avLst/>
          </a:prstGeom>
          <a:noFill/>
        </p:spPr>
        <p:txBody>
          <a:bodyPr wrap="square" lIns="0" rIns="0" tIns="0" bIns="0" anchor="t">
            <a:spAutoFit/>
          </a:bodyPr>
          <a:lstStyle/>
          <a:p>
            <a:pPr algn="l"/>
            <a:r>
              <a:rPr sz="1100" b="1">
                <a:solidFill>
                  <a:srgbClr val="0B3D91"/>
                </a:solidFill>
                <a:latin typeface="Helvetica Neue"/>
              </a:rPr>
              <a:t>NATURAL LANGUAGE TEST</a:t>
            </a:r>
          </a:p>
        </p:txBody>
      </p:sp>
      <p:sp>
        <p:nvSpPr>
          <p:cNvPr id="30" name="TextBox 29"/>
          <p:cNvSpPr txBox="1"/>
          <p:nvPr/>
        </p:nvSpPr>
        <p:spPr>
          <a:xfrm>
            <a:off x="6583680" y="2514600"/>
            <a:ext cx="4876495" cy="502920"/>
          </a:xfrm>
          <a:prstGeom prst="rect">
            <a:avLst/>
          </a:prstGeom>
          <a:noFill/>
        </p:spPr>
        <p:txBody>
          <a:bodyPr wrap="square" lIns="0" rIns="0" tIns="0" bIns="0" anchor="t">
            <a:spAutoFit/>
          </a:bodyPr>
          <a:lstStyle/>
          <a:p>
            <a:pPr algn="l"/>
            <a:r>
              <a:rPr sz="1800" b="1">
                <a:solidFill>
                  <a:srgbClr val="1A1A1A"/>
                </a:solidFill>
                <a:latin typeface="Helvetica Neue"/>
              </a:rPr>
              <a:t>10 real questions. Zero wrong.</a:t>
            </a:r>
          </a:p>
        </p:txBody>
      </p:sp>
      <p:sp>
        <p:nvSpPr>
          <p:cNvPr id="31" name="Rectangle 30"/>
          <p:cNvSpPr/>
          <p:nvPr/>
        </p:nvSpPr>
        <p:spPr>
          <a:xfrm>
            <a:off x="6583680" y="3108960"/>
            <a:ext cx="1150543" cy="10058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0" y="3108960"/>
            <a:ext cx="1150543" cy="64008"/>
          </a:xfrm>
          <a:prstGeom prst="rect">
            <a:avLst/>
          </a:prstGeom>
          <a:solidFill>
            <a:srgbClr val="1F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3273552"/>
            <a:ext cx="1150543" cy="457200"/>
          </a:xfrm>
          <a:prstGeom prst="rect">
            <a:avLst/>
          </a:prstGeom>
          <a:noFill/>
        </p:spPr>
        <p:txBody>
          <a:bodyPr wrap="square" lIns="0" rIns="0" tIns="0" bIns="0" anchor="t">
            <a:spAutoFit/>
          </a:bodyPr>
          <a:lstStyle/>
          <a:p>
            <a:pPr algn="ctr"/>
            <a:r>
              <a:rPr sz="1800" b="1">
                <a:solidFill>
                  <a:srgbClr val="1F7A3E"/>
                </a:solidFill>
                <a:latin typeface="Helvetica Neue"/>
              </a:rPr>
              <a:t>10/10</a:t>
            </a:r>
          </a:p>
        </p:txBody>
      </p:sp>
      <p:sp>
        <p:nvSpPr>
          <p:cNvPr id="34" name="TextBox 33"/>
          <p:cNvSpPr txBox="1"/>
          <p:nvPr/>
        </p:nvSpPr>
        <p:spPr>
          <a:xfrm>
            <a:off x="6583680" y="3767328"/>
            <a:ext cx="1150543" cy="274320"/>
          </a:xfrm>
          <a:prstGeom prst="rect">
            <a:avLst/>
          </a:prstGeom>
          <a:noFill/>
        </p:spPr>
        <p:txBody>
          <a:bodyPr wrap="square" lIns="0" rIns="0" tIns="0" bIns="0" anchor="t">
            <a:spAutoFit/>
          </a:bodyPr>
          <a:lstStyle/>
          <a:p>
            <a:pPr algn="ctr"/>
            <a:r>
              <a:rPr sz="900" b="1">
                <a:solidFill>
                  <a:srgbClr val="555555"/>
                </a:solidFill>
                <a:latin typeface="Helvetica Neue"/>
              </a:rPr>
              <a:t>ANSWERED</a:t>
            </a:r>
          </a:p>
        </p:txBody>
      </p:sp>
      <p:sp>
        <p:nvSpPr>
          <p:cNvPr id="35" name="Rectangle 34"/>
          <p:cNvSpPr/>
          <p:nvPr/>
        </p:nvSpPr>
        <p:spPr>
          <a:xfrm>
            <a:off x="7825663" y="3108960"/>
            <a:ext cx="1150543" cy="10058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825663" y="3108960"/>
            <a:ext cx="1150543" cy="64008"/>
          </a:xfrm>
          <a:prstGeom prst="rect">
            <a:avLst/>
          </a:prstGeom>
          <a:solidFill>
            <a:srgbClr val="1F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25663" y="3273552"/>
            <a:ext cx="1150543" cy="457200"/>
          </a:xfrm>
          <a:prstGeom prst="rect">
            <a:avLst/>
          </a:prstGeom>
          <a:noFill/>
        </p:spPr>
        <p:txBody>
          <a:bodyPr wrap="square" lIns="0" rIns="0" tIns="0" bIns="0" anchor="t">
            <a:spAutoFit/>
          </a:bodyPr>
          <a:lstStyle/>
          <a:p>
            <a:pPr algn="ctr"/>
            <a:r>
              <a:rPr sz="1800" b="1">
                <a:solidFill>
                  <a:srgbClr val="1F7A3E"/>
                </a:solidFill>
                <a:latin typeface="Helvetica Neue"/>
              </a:rPr>
              <a:t>7/10</a:t>
            </a:r>
          </a:p>
        </p:txBody>
      </p:sp>
      <p:sp>
        <p:nvSpPr>
          <p:cNvPr id="38" name="TextBox 37"/>
          <p:cNvSpPr txBox="1"/>
          <p:nvPr/>
        </p:nvSpPr>
        <p:spPr>
          <a:xfrm>
            <a:off x="7825663" y="3767328"/>
            <a:ext cx="1150543" cy="274320"/>
          </a:xfrm>
          <a:prstGeom prst="rect">
            <a:avLst/>
          </a:prstGeom>
          <a:noFill/>
        </p:spPr>
        <p:txBody>
          <a:bodyPr wrap="square" lIns="0" rIns="0" tIns="0" bIns="0" anchor="t">
            <a:spAutoFit/>
          </a:bodyPr>
          <a:lstStyle/>
          <a:p>
            <a:pPr algn="ctr"/>
            <a:r>
              <a:rPr sz="900" b="1">
                <a:solidFill>
                  <a:srgbClr val="555555"/>
                </a:solidFill>
                <a:latin typeface="Helvetica Neue"/>
              </a:rPr>
              <a:t>DIRECT</a:t>
            </a:r>
          </a:p>
        </p:txBody>
      </p:sp>
      <p:sp>
        <p:nvSpPr>
          <p:cNvPr id="39" name="Rectangle 38"/>
          <p:cNvSpPr/>
          <p:nvPr/>
        </p:nvSpPr>
        <p:spPr>
          <a:xfrm>
            <a:off x="9067647" y="3108960"/>
            <a:ext cx="1150543" cy="10058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67647" y="3108960"/>
            <a:ext cx="1150543" cy="64008"/>
          </a:xfrm>
          <a:prstGeom prst="rect">
            <a:avLst/>
          </a:prstGeom>
          <a:solidFill>
            <a:srgbClr val="D86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67647" y="3273552"/>
            <a:ext cx="1150543" cy="457200"/>
          </a:xfrm>
          <a:prstGeom prst="rect">
            <a:avLst/>
          </a:prstGeom>
          <a:noFill/>
        </p:spPr>
        <p:txBody>
          <a:bodyPr wrap="square" lIns="0" rIns="0" tIns="0" bIns="0" anchor="t">
            <a:spAutoFit/>
          </a:bodyPr>
          <a:lstStyle/>
          <a:p>
            <a:pPr algn="ctr"/>
            <a:r>
              <a:rPr sz="1800" b="1">
                <a:solidFill>
                  <a:srgbClr val="D86820"/>
                </a:solidFill>
                <a:latin typeface="Helvetica Neue"/>
              </a:rPr>
              <a:t>3/10</a:t>
            </a:r>
          </a:p>
        </p:txBody>
      </p:sp>
      <p:sp>
        <p:nvSpPr>
          <p:cNvPr id="42" name="TextBox 41"/>
          <p:cNvSpPr txBox="1"/>
          <p:nvPr/>
        </p:nvSpPr>
        <p:spPr>
          <a:xfrm>
            <a:off x="9067647" y="3767328"/>
            <a:ext cx="1150543" cy="274320"/>
          </a:xfrm>
          <a:prstGeom prst="rect">
            <a:avLst/>
          </a:prstGeom>
          <a:noFill/>
        </p:spPr>
        <p:txBody>
          <a:bodyPr wrap="square" lIns="0" rIns="0" tIns="0" bIns="0" anchor="t">
            <a:spAutoFit/>
          </a:bodyPr>
          <a:lstStyle/>
          <a:p>
            <a:pPr algn="ctr"/>
            <a:r>
              <a:rPr sz="900" b="1">
                <a:solidFill>
                  <a:srgbClr val="555555"/>
                </a:solidFill>
                <a:latin typeface="Helvetica Neue"/>
              </a:rPr>
              <a:t>CLARIFIED</a:t>
            </a:r>
          </a:p>
        </p:txBody>
      </p:sp>
      <p:sp>
        <p:nvSpPr>
          <p:cNvPr id="43" name="Rectangle 42"/>
          <p:cNvSpPr/>
          <p:nvPr/>
        </p:nvSpPr>
        <p:spPr>
          <a:xfrm>
            <a:off x="10309631" y="3108960"/>
            <a:ext cx="1150543" cy="100584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309631" y="3108960"/>
            <a:ext cx="1150543" cy="64008"/>
          </a:xfrm>
          <a:prstGeom prst="rect">
            <a:avLst/>
          </a:prstGeom>
          <a:solidFill>
            <a:srgbClr val="1F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309631" y="3273552"/>
            <a:ext cx="1150543" cy="457200"/>
          </a:xfrm>
          <a:prstGeom prst="rect">
            <a:avLst/>
          </a:prstGeom>
          <a:noFill/>
        </p:spPr>
        <p:txBody>
          <a:bodyPr wrap="square" lIns="0" rIns="0" tIns="0" bIns="0" anchor="t">
            <a:spAutoFit/>
          </a:bodyPr>
          <a:lstStyle/>
          <a:p>
            <a:pPr algn="ctr"/>
            <a:r>
              <a:rPr sz="1800" b="1">
                <a:solidFill>
                  <a:srgbClr val="1F7A3E"/>
                </a:solidFill>
                <a:latin typeface="Helvetica Neue"/>
              </a:rPr>
              <a:t>0/10</a:t>
            </a:r>
          </a:p>
        </p:txBody>
      </p:sp>
      <p:sp>
        <p:nvSpPr>
          <p:cNvPr id="46" name="TextBox 45"/>
          <p:cNvSpPr txBox="1"/>
          <p:nvPr/>
        </p:nvSpPr>
        <p:spPr>
          <a:xfrm>
            <a:off x="10309631" y="3767328"/>
            <a:ext cx="1150543" cy="274320"/>
          </a:xfrm>
          <a:prstGeom prst="rect">
            <a:avLst/>
          </a:prstGeom>
          <a:noFill/>
        </p:spPr>
        <p:txBody>
          <a:bodyPr wrap="square" lIns="0" rIns="0" tIns="0" bIns="0" anchor="t">
            <a:spAutoFit/>
          </a:bodyPr>
          <a:lstStyle/>
          <a:p>
            <a:pPr algn="ctr"/>
            <a:r>
              <a:rPr sz="900" b="1">
                <a:solidFill>
                  <a:srgbClr val="555555"/>
                </a:solidFill>
                <a:latin typeface="Helvetica Neue"/>
              </a:rPr>
              <a:t>WRONG</a:t>
            </a:r>
          </a:p>
        </p:txBody>
      </p:sp>
      <p:sp>
        <p:nvSpPr>
          <p:cNvPr id="47" name="TextBox 46"/>
          <p:cNvSpPr txBox="1"/>
          <p:nvPr/>
        </p:nvSpPr>
        <p:spPr>
          <a:xfrm>
            <a:off x="6583680" y="4297680"/>
            <a:ext cx="4876495" cy="274320"/>
          </a:xfrm>
          <a:prstGeom prst="rect">
            <a:avLst/>
          </a:prstGeom>
          <a:noFill/>
        </p:spPr>
        <p:txBody>
          <a:bodyPr wrap="square" lIns="0" rIns="0" tIns="0" bIns="0" anchor="t">
            <a:spAutoFit/>
          </a:bodyPr>
          <a:lstStyle/>
          <a:p>
            <a:pPr algn="l"/>
            <a:r>
              <a:rPr sz="1100" b="1">
                <a:solidFill>
                  <a:srgbClr val="1A1A1A"/>
                </a:solidFill>
                <a:latin typeface="Helvetica Neue"/>
              </a:rPr>
              <a:t>Highlight: the trick question</a:t>
            </a:r>
          </a:p>
        </p:txBody>
      </p:sp>
      <p:sp>
        <p:nvSpPr>
          <p:cNvPr id="48" name="TextBox 47"/>
          <p:cNvSpPr txBox="1"/>
          <p:nvPr/>
        </p:nvSpPr>
        <p:spPr>
          <a:xfrm>
            <a:off x="6583680" y="4617720"/>
            <a:ext cx="4876495" cy="1371600"/>
          </a:xfrm>
          <a:prstGeom prst="rect">
            <a:avLst/>
          </a:prstGeom>
          <a:noFill/>
        </p:spPr>
        <p:txBody>
          <a:bodyPr wrap="square" lIns="0" rIns="0" tIns="0" bIns="0" anchor="t">
            <a:spAutoFit/>
          </a:bodyPr>
          <a:lstStyle/>
          <a:p>
            <a:pPr algn="l"/>
            <a:r>
              <a:rPr sz="1000" b="0">
                <a:solidFill>
                  <a:srgbClr val="555555"/>
                </a:solidFill>
                <a:latin typeface="Helvetica Neue"/>
              </a:rPr>
              <a:t>We deliberately asked "how long do claims take to process?" — a question our source data can't answer because the dates are corrupted. The AI correctly refused: "Claim processing dates are corrupted at the source... the platform cannot compute real processing duration."
That's the strongest proof the AI is actually steered by our domain rules, not just generating plausible-sounding answers.</a:t>
            </a:r>
          </a:p>
        </p:txBody>
      </p:sp>
      <p:sp>
        <p:nvSpPr>
          <p:cNvPr id="49" name="TextBox 48"/>
          <p:cNvSpPr txBox="1"/>
          <p:nvPr/>
        </p:nvSpPr>
        <p:spPr>
          <a:xfrm>
            <a:off x="457200" y="6446520"/>
            <a:ext cx="8229600" cy="274320"/>
          </a:xfrm>
          <a:prstGeom prst="rect">
            <a:avLst/>
          </a:prstGeom>
          <a:noFill/>
        </p:spPr>
        <p:txBody>
          <a:bodyPr wrap="square" lIns="0" rIns="0" tIns="0" bIns="0" anchor="t">
            <a:spAutoFit/>
          </a:bodyPr>
          <a:lstStyle/>
          <a:p>
            <a:pPr algn="l"/>
            <a:r>
              <a:rPr sz="900" b="0">
                <a:solidFill>
                  <a:srgbClr val="555555"/>
                </a:solidFill>
                <a:latin typeface="Helvetica Neue"/>
              </a:rPr>
              <a:t>PrimeInsurance Data Intelligence Platform  ·  Jellyfish Technologies</a:t>
            </a:r>
          </a:p>
        </p:txBody>
      </p:sp>
      <p:sp>
        <p:nvSpPr>
          <p:cNvPr id="50" name="TextBox 49"/>
          <p:cNvSpPr txBox="1"/>
          <p:nvPr/>
        </p:nvSpPr>
        <p:spPr>
          <a:xfrm>
            <a:off x="11247120" y="6446520"/>
            <a:ext cx="731520" cy="274320"/>
          </a:xfrm>
          <a:prstGeom prst="rect">
            <a:avLst/>
          </a:prstGeom>
          <a:noFill/>
        </p:spPr>
        <p:txBody>
          <a:bodyPr wrap="square" lIns="0" rIns="0" tIns="0" bIns="0" anchor="t">
            <a:spAutoFit/>
          </a:bodyPr>
          <a:lstStyle/>
          <a:p>
            <a:pPr algn="r"/>
            <a:r>
              <a:rPr sz="900" b="0">
                <a:solidFill>
                  <a:srgbClr val="555555"/>
                </a:solidFill>
                <a:latin typeface="Helvetica Neue"/>
              </a:rP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972800" cy="320040"/>
          </a:xfrm>
          <a:prstGeom prst="rect">
            <a:avLst/>
          </a:prstGeom>
          <a:noFill/>
        </p:spPr>
        <p:txBody>
          <a:bodyPr wrap="square" lIns="0" rIns="0" tIns="0" bIns="0" anchor="t">
            <a:spAutoFit/>
          </a:bodyPr>
          <a:lstStyle/>
          <a:p>
            <a:pPr algn="l"/>
            <a:r>
              <a:rPr sz="1100" b="1">
                <a:solidFill>
                  <a:srgbClr val="0B3D91"/>
                </a:solidFill>
                <a:latin typeface="Helvetica Neue"/>
              </a:rPr>
              <a:t>06  ·  WHAT'S NEXT</a:t>
            </a:r>
          </a:p>
        </p:txBody>
      </p:sp>
      <p:sp>
        <p:nvSpPr>
          <p:cNvPr id="4" name="TextBox 3"/>
          <p:cNvSpPr txBox="1"/>
          <p:nvPr/>
        </p:nvSpPr>
        <p:spPr>
          <a:xfrm>
            <a:off x="457200" y="594360"/>
            <a:ext cx="10972800" cy="822960"/>
          </a:xfrm>
          <a:prstGeom prst="rect">
            <a:avLst/>
          </a:prstGeom>
          <a:noFill/>
        </p:spPr>
        <p:txBody>
          <a:bodyPr wrap="square" lIns="0" rIns="0" tIns="0" bIns="0" anchor="t">
            <a:spAutoFit/>
          </a:bodyPr>
          <a:lstStyle/>
          <a:p>
            <a:pPr algn="l"/>
            <a:r>
              <a:rPr sz="2800" b="1">
                <a:solidFill>
                  <a:srgbClr val="1A1A1A"/>
                </a:solidFill>
                <a:latin typeface="Helvetica Neue"/>
              </a:rPr>
              <a:t>Seven more operational plays — same foundation</a:t>
            </a:r>
          </a:p>
        </p:txBody>
      </p:sp>
      <p:sp>
        <p:nvSpPr>
          <p:cNvPr id="5" name="TextBox 4"/>
          <p:cNvSpPr txBox="1"/>
          <p:nvPr/>
        </p:nvSpPr>
        <p:spPr>
          <a:xfrm>
            <a:off x="457200" y="1508760"/>
            <a:ext cx="11247120" cy="365760"/>
          </a:xfrm>
          <a:prstGeom prst="rect">
            <a:avLst/>
          </a:prstGeom>
          <a:noFill/>
        </p:spPr>
        <p:txBody>
          <a:bodyPr wrap="square" lIns="0" rIns="0" tIns="0" bIns="0" anchor="t">
            <a:spAutoFit/>
          </a:bodyPr>
          <a:lstStyle/>
          <a:p>
            <a:pPr algn="l"/>
            <a:r>
              <a:rPr sz="1400" b="0">
                <a:solidFill>
                  <a:srgbClr val="555555"/>
                </a:solidFill>
                <a:latin typeface="Helvetica Neue"/>
              </a:rPr>
              <a:t>Nothing we built has to be thrown away to ship the next use case. That's the point of the foundation.</a:t>
            </a:r>
          </a:p>
        </p:txBody>
      </p:sp>
      <p:sp>
        <p:nvSpPr>
          <p:cNvPr id="6" name="Rectangle 5"/>
          <p:cNvSpPr/>
          <p:nvPr/>
        </p:nvSpPr>
        <p:spPr>
          <a:xfrm>
            <a:off x="457200" y="2057400"/>
            <a:ext cx="2716453" cy="178308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57400"/>
            <a:ext cx="73152" cy="17830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40080" y="2240280"/>
            <a:ext cx="457200" cy="4572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67712"/>
            <a:ext cx="457200" cy="411480"/>
          </a:xfrm>
          <a:prstGeom prst="rect">
            <a:avLst/>
          </a:prstGeom>
          <a:noFill/>
        </p:spPr>
        <p:txBody>
          <a:bodyPr wrap="square" lIns="0" rIns="0" tIns="0" bIns="0" anchor="t">
            <a:spAutoFit/>
          </a:bodyPr>
          <a:lstStyle/>
          <a:p>
            <a:pPr algn="ctr"/>
            <a:r>
              <a:rPr sz="1300" b="1">
                <a:solidFill>
                  <a:srgbClr val="FFFFFF"/>
                </a:solidFill>
                <a:latin typeface="Helvetica Neue"/>
              </a:rPr>
              <a:t>1</a:t>
            </a:r>
          </a:p>
        </p:txBody>
      </p:sp>
      <p:sp>
        <p:nvSpPr>
          <p:cNvPr id="10" name="TextBox 9"/>
          <p:cNvSpPr txBox="1"/>
          <p:nvPr/>
        </p:nvSpPr>
        <p:spPr>
          <a:xfrm>
            <a:off x="1234440" y="2240280"/>
            <a:ext cx="1756333" cy="731520"/>
          </a:xfrm>
          <a:prstGeom prst="rect">
            <a:avLst/>
          </a:prstGeom>
          <a:noFill/>
        </p:spPr>
        <p:txBody>
          <a:bodyPr wrap="square" lIns="0" rIns="0" tIns="0" bIns="0" anchor="t">
            <a:spAutoFit/>
          </a:bodyPr>
          <a:lstStyle/>
          <a:p>
            <a:pPr algn="l"/>
            <a:r>
              <a:rPr sz="1200" b="1">
                <a:solidFill>
                  <a:srgbClr val="1A1A1A"/>
                </a:solidFill>
                <a:latin typeface="Helvetica Neue"/>
              </a:rPr>
              <a:t>Claims Triage Workbench</a:t>
            </a:r>
          </a:p>
        </p:txBody>
      </p:sp>
      <p:sp>
        <p:nvSpPr>
          <p:cNvPr id="11" name="TextBox 10"/>
          <p:cNvSpPr txBox="1"/>
          <p:nvPr/>
        </p:nvSpPr>
        <p:spPr>
          <a:xfrm>
            <a:off x="640080" y="2880360"/>
            <a:ext cx="2350693" cy="868680"/>
          </a:xfrm>
          <a:prstGeom prst="rect">
            <a:avLst/>
          </a:prstGeom>
          <a:noFill/>
        </p:spPr>
        <p:txBody>
          <a:bodyPr wrap="square" lIns="0" rIns="0" tIns="0" bIns="0" anchor="t">
            <a:spAutoFit/>
          </a:bodyPr>
          <a:lstStyle/>
          <a:p>
            <a:pPr algn="l"/>
            <a:r>
              <a:rPr sz="1000" b="0">
                <a:solidFill>
                  <a:srgbClr val="555555"/>
                </a:solidFill>
                <a:latin typeface="Helvetica Neue"/>
              </a:rPr>
              <a:t>Live case queue with AI investigation briefs — directly attacks the 18-day backlog.</a:t>
            </a:r>
          </a:p>
        </p:txBody>
      </p:sp>
      <p:sp>
        <p:nvSpPr>
          <p:cNvPr id="12" name="Rectangle 11"/>
          <p:cNvSpPr/>
          <p:nvPr/>
        </p:nvSpPr>
        <p:spPr>
          <a:xfrm>
            <a:off x="3310813" y="2057400"/>
            <a:ext cx="2716453" cy="178308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0813" y="2057400"/>
            <a:ext cx="73152" cy="17830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693" y="2240280"/>
            <a:ext cx="457200" cy="4572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693" y="2267712"/>
            <a:ext cx="457200" cy="411480"/>
          </a:xfrm>
          <a:prstGeom prst="rect">
            <a:avLst/>
          </a:prstGeom>
          <a:noFill/>
        </p:spPr>
        <p:txBody>
          <a:bodyPr wrap="square" lIns="0" rIns="0" tIns="0" bIns="0" anchor="t">
            <a:spAutoFit/>
          </a:bodyPr>
          <a:lstStyle/>
          <a:p>
            <a:pPr algn="ctr"/>
            <a:r>
              <a:rPr sz="1300" b="1">
                <a:solidFill>
                  <a:srgbClr val="FFFFFF"/>
                </a:solidFill>
                <a:latin typeface="Helvetica Neue"/>
              </a:rPr>
              <a:t>2</a:t>
            </a:r>
          </a:p>
        </p:txBody>
      </p:sp>
      <p:sp>
        <p:nvSpPr>
          <p:cNvPr id="16" name="TextBox 15"/>
          <p:cNvSpPr txBox="1"/>
          <p:nvPr/>
        </p:nvSpPr>
        <p:spPr>
          <a:xfrm>
            <a:off x="4088053" y="2240280"/>
            <a:ext cx="1756333" cy="731520"/>
          </a:xfrm>
          <a:prstGeom prst="rect">
            <a:avLst/>
          </a:prstGeom>
          <a:noFill/>
        </p:spPr>
        <p:txBody>
          <a:bodyPr wrap="square" lIns="0" rIns="0" tIns="0" bIns="0" anchor="t">
            <a:spAutoFit/>
          </a:bodyPr>
          <a:lstStyle/>
          <a:p>
            <a:pPr algn="l"/>
            <a:r>
              <a:rPr sz="1200" b="1">
                <a:solidFill>
                  <a:srgbClr val="1A1A1A"/>
                </a:solidFill>
                <a:latin typeface="Helvetica Neue"/>
              </a:rPr>
              <a:t>Customer Golden Record</a:t>
            </a:r>
          </a:p>
        </p:txBody>
      </p:sp>
      <p:sp>
        <p:nvSpPr>
          <p:cNvPr id="17" name="TextBox 16"/>
          <p:cNvSpPr txBox="1"/>
          <p:nvPr/>
        </p:nvSpPr>
        <p:spPr>
          <a:xfrm>
            <a:off x="3493693" y="2880360"/>
            <a:ext cx="2350693" cy="868680"/>
          </a:xfrm>
          <a:prstGeom prst="rect">
            <a:avLst/>
          </a:prstGeom>
          <a:noFill/>
        </p:spPr>
        <p:txBody>
          <a:bodyPr wrap="square" lIns="0" rIns="0" tIns="0" bIns="0" anchor="t">
            <a:spAutoFit/>
          </a:bodyPr>
          <a:lstStyle/>
          <a:p>
            <a:pPr algn="l"/>
            <a:r>
              <a:rPr sz="1000" b="0">
                <a:solidFill>
                  <a:srgbClr val="555555"/>
                </a:solidFill>
                <a:latin typeface="Helvetica Neue"/>
              </a:rPr>
              <a:t>Live match-or-create service — every new record goes through the dedup layer before it lands.</a:t>
            </a:r>
          </a:p>
        </p:txBody>
      </p:sp>
      <p:sp>
        <p:nvSpPr>
          <p:cNvPr id="18" name="Rectangle 17"/>
          <p:cNvSpPr/>
          <p:nvPr/>
        </p:nvSpPr>
        <p:spPr>
          <a:xfrm>
            <a:off x="6164427" y="2057400"/>
            <a:ext cx="2716453" cy="178308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4427" y="2057400"/>
            <a:ext cx="73152" cy="17830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347307" y="2240280"/>
            <a:ext cx="457200" cy="4572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7307" y="2267712"/>
            <a:ext cx="457200" cy="411480"/>
          </a:xfrm>
          <a:prstGeom prst="rect">
            <a:avLst/>
          </a:prstGeom>
          <a:noFill/>
        </p:spPr>
        <p:txBody>
          <a:bodyPr wrap="square" lIns="0" rIns="0" tIns="0" bIns="0" anchor="t">
            <a:spAutoFit/>
          </a:bodyPr>
          <a:lstStyle/>
          <a:p>
            <a:pPr algn="ctr"/>
            <a:r>
              <a:rPr sz="1300" b="1">
                <a:solidFill>
                  <a:srgbClr val="FFFFFF"/>
                </a:solidFill>
                <a:latin typeface="Helvetica Neue"/>
              </a:rPr>
              <a:t>3</a:t>
            </a:r>
          </a:p>
        </p:txBody>
      </p:sp>
      <p:sp>
        <p:nvSpPr>
          <p:cNvPr id="22" name="TextBox 21"/>
          <p:cNvSpPr txBox="1"/>
          <p:nvPr/>
        </p:nvSpPr>
        <p:spPr>
          <a:xfrm>
            <a:off x="6941667" y="2240280"/>
            <a:ext cx="1756333" cy="731520"/>
          </a:xfrm>
          <a:prstGeom prst="rect">
            <a:avLst/>
          </a:prstGeom>
          <a:noFill/>
        </p:spPr>
        <p:txBody>
          <a:bodyPr wrap="square" lIns="0" rIns="0" tIns="0" bIns="0" anchor="t">
            <a:spAutoFit/>
          </a:bodyPr>
          <a:lstStyle/>
          <a:p>
            <a:pPr algn="l"/>
            <a:r>
              <a:rPr sz="1200" b="1">
                <a:solidFill>
                  <a:srgbClr val="1A1A1A"/>
                </a:solidFill>
                <a:latin typeface="Helvetica Neue"/>
              </a:rPr>
              <a:t>Regulator Genie Space</a:t>
            </a:r>
          </a:p>
        </p:txBody>
      </p:sp>
      <p:sp>
        <p:nvSpPr>
          <p:cNvPr id="23" name="TextBox 22"/>
          <p:cNvSpPr txBox="1"/>
          <p:nvPr/>
        </p:nvSpPr>
        <p:spPr>
          <a:xfrm>
            <a:off x="6347307" y="2880360"/>
            <a:ext cx="2350693" cy="868680"/>
          </a:xfrm>
          <a:prstGeom prst="rect">
            <a:avLst/>
          </a:prstGeom>
          <a:noFill/>
        </p:spPr>
        <p:txBody>
          <a:bodyPr wrap="square" lIns="0" rIns="0" tIns="0" bIns="0" anchor="t">
            <a:spAutoFit/>
          </a:bodyPr>
          <a:lstStyle/>
          <a:p>
            <a:pPr algn="l"/>
            <a:r>
              <a:rPr sz="1000" b="0">
                <a:solidFill>
                  <a:srgbClr val="555555"/>
                </a:solidFill>
                <a:latin typeface="Helvetica Neue"/>
              </a:rPr>
              <a:t>A separate self-serve interface for compliance with row-level security by jurisdiction.</a:t>
            </a:r>
          </a:p>
        </p:txBody>
      </p:sp>
      <p:sp>
        <p:nvSpPr>
          <p:cNvPr id="24" name="Rectangle 23"/>
          <p:cNvSpPr/>
          <p:nvPr/>
        </p:nvSpPr>
        <p:spPr>
          <a:xfrm>
            <a:off x="9018041" y="2057400"/>
            <a:ext cx="2716453" cy="178308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18041" y="2057400"/>
            <a:ext cx="73152" cy="17830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200921" y="2240280"/>
            <a:ext cx="457200" cy="4572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00921" y="2267712"/>
            <a:ext cx="457200" cy="411480"/>
          </a:xfrm>
          <a:prstGeom prst="rect">
            <a:avLst/>
          </a:prstGeom>
          <a:noFill/>
        </p:spPr>
        <p:txBody>
          <a:bodyPr wrap="square" lIns="0" rIns="0" tIns="0" bIns="0" anchor="t">
            <a:spAutoFit/>
          </a:bodyPr>
          <a:lstStyle/>
          <a:p>
            <a:pPr algn="ctr"/>
            <a:r>
              <a:rPr sz="1300" b="1">
                <a:solidFill>
                  <a:srgbClr val="FFFFFF"/>
                </a:solidFill>
                <a:latin typeface="Helvetica Neue"/>
              </a:rPr>
              <a:t>4</a:t>
            </a:r>
          </a:p>
        </p:txBody>
      </p:sp>
      <p:sp>
        <p:nvSpPr>
          <p:cNvPr id="28" name="TextBox 27"/>
          <p:cNvSpPr txBox="1"/>
          <p:nvPr/>
        </p:nvSpPr>
        <p:spPr>
          <a:xfrm>
            <a:off x="9795281" y="2240280"/>
            <a:ext cx="1756333" cy="731520"/>
          </a:xfrm>
          <a:prstGeom prst="rect">
            <a:avLst/>
          </a:prstGeom>
          <a:noFill/>
        </p:spPr>
        <p:txBody>
          <a:bodyPr wrap="square" lIns="0" rIns="0" tIns="0" bIns="0" anchor="t">
            <a:spAutoFit/>
          </a:bodyPr>
          <a:lstStyle/>
          <a:p>
            <a:pPr algn="l"/>
            <a:r>
              <a:rPr sz="1200" b="1">
                <a:solidFill>
                  <a:srgbClr val="1A1A1A"/>
                </a:solidFill>
                <a:latin typeface="Helvetica Neue"/>
              </a:rPr>
              <a:t>Inventory Marketplace</a:t>
            </a:r>
          </a:p>
        </p:txBody>
      </p:sp>
      <p:sp>
        <p:nvSpPr>
          <p:cNvPr id="29" name="TextBox 28"/>
          <p:cNvSpPr txBox="1"/>
          <p:nvPr/>
        </p:nvSpPr>
        <p:spPr>
          <a:xfrm>
            <a:off x="9200921" y="2880360"/>
            <a:ext cx="2350693" cy="868680"/>
          </a:xfrm>
          <a:prstGeom prst="rect">
            <a:avLst/>
          </a:prstGeom>
          <a:noFill/>
        </p:spPr>
        <p:txBody>
          <a:bodyPr wrap="square" lIns="0" rIns="0" tIns="0" bIns="0" anchor="t">
            <a:spAutoFit/>
          </a:bodyPr>
          <a:lstStyle/>
          <a:p>
            <a:pPr algn="l"/>
            <a:r>
              <a:rPr sz="1000" b="0">
                <a:solidFill>
                  <a:srgbClr val="555555"/>
                </a:solidFill>
                <a:latin typeface="Helvetica Neue"/>
              </a:rPr>
              <a:t>Dealer managers approve and reserve cross-regional transfers — ends the 90-day aging problem.</a:t>
            </a:r>
          </a:p>
        </p:txBody>
      </p:sp>
      <p:sp>
        <p:nvSpPr>
          <p:cNvPr id="30" name="Rectangle 29"/>
          <p:cNvSpPr/>
          <p:nvPr/>
        </p:nvSpPr>
        <p:spPr>
          <a:xfrm>
            <a:off x="457200" y="3977640"/>
            <a:ext cx="2716453" cy="178308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3977640"/>
            <a:ext cx="73152" cy="17830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0080" y="4160520"/>
            <a:ext cx="457200" cy="4572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4187952"/>
            <a:ext cx="457200" cy="411480"/>
          </a:xfrm>
          <a:prstGeom prst="rect">
            <a:avLst/>
          </a:prstGeom>
          <a:noFill/>
        </p:spPr>
        <p:txBody>
          <a:bodyPr wrap="square" lIns="0" rIns="0" tIns="0" bIns="0" anchor="t">
            <a:spAutoFit/>
          </a:bodyPr>
          <a:lstStyle/>
          <a:p>
            <a:pPr algn="ctr"/>
            <a:r>
              <a:rPr sz="1300" b="1">
                <a:solidFill>
                  <a:srgbClr val="FFFFFF"/>
                </a:solidFill>
                <a:latin typeface="Helvetica Neue"/>
              </a:rPr>
              <a:t>5</a:t>
            </a:r>
          </a:p>
        </p:txBody>
      </p:sp>
      <p:sp>
        <p:nvSpPr>
          <p:cNvPr id="34" name="TextBox 33"/>
          <p:cNvSpPr txBox="1"/>
          <p:nvPr/>
        </p:nvSpPr>
        <p:spPr>
          <a:xfrm>
            <a:off x="1234440" y="4160520"/>
            <a:ext cx="1756333" cy="731520"/>
          </a:xfrm>
          <a:prstGeom prst="rect">
            <a:avLst/>
          </a:prstGeom>
          <a:noFill/>
        </p:spPr>
        <p:txBody>
          <a:bodyPr wrap="square" lIns="0" rIns="0" tIns="0" bIns="0" anchor="t">
            <a:spAutoFit/>
          </a:bodyPr>
          <a:lstStyle/>
          <a:p>
            <a:pPr algn="l"/>
            <a:r>
              <a:rPr sz="1200" b="1">
                <a:solidFill>
                  <a:srgbClr val="1A1A1A"/>
                </a:solidFill>
                <a:latin typeface="Helvetica Neue"/>
              </a:rPr>
              <a:t>Real-Time Fraud Cases</a:t>
            </a:r>
          </a:p>
        </p:txBody>
      </p:sp>
      <p:sp>
        <p:nvSpPr>
          <p:cNvPr id="35" name="TextBox 34"/>
          <p:cNvSpPr txBox="1"/>
          <p:nvPr/>
        </p:nvSpPr>
        <p:spPr>
          <a:xfrm>
            <a:off x="640080" y="4800600"/>
            <a:ext cx="2350693" cy="868680"/>
          </a:xfrm>
          <a:prstGeom prst="rect">
            <a:avLst/>
          </a:prstGeom>
          <a:noFill/>
        </p:spPr>
        <p:txBody>
          <a:bodyPr wrap="square" lIns="0" rIns="0" tIns="0" bIns="0" anchor="t">
            <a:spAutoFit/>
          </a:bodyPr>
          <a:lstStyle/>
          <a:p>
            <a:pPr algn="l"/>
            <a:r>
              <a:rPr sz="1000" b="0">
                <a:solidFill>
                  <a:srgbClr val="555555"/>
                </a:solidFill>
                <a:latin typeface="Helvetica Neue"/>
              </a:rPr>
              <a:t>Flagged claims become tracked cases with status, notes, and outcomes — closing the loop from detection to resolution.</a:t>
            </a:r>
          </a:p>
        </p:txBody>
      </p:sp>
      <p:sp>
        <p:nvSpPr>
          <p:cNvPr id="36" name="Rectangle 35"/>
          <p:cNvSpPr/>
          <p:nvPr/>
        </p:nvSpPr>
        <p:spPr>
          <a:xfrm>
            <a:off x="3310813" y="3977640"/>
            <a:ext cx="2716453" cy="178308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310813" y="3977640"/>
            <a:ext cx="73152" cy="17830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493693" y="4160520"/>
            <a:ext cx="457200" cy="4572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93693" y="4187952"/>
            <a:ext cx="457200" cy="411480"/>
          </a:xfrm>
          <a:prstGeom prst="rect">
            <a:avLst/>
          </a:prstGeom>
          <a:noFill/>
        </p:spPr>
        <p:txBody>
          <a:bodyPr wrap="square" lIns="0" rIns="0" tIns="0" bIns="0" anchor="t">
            <a:spAutoFit/>
          </a:bodyPr>
          <a:lstStyle/>
          <a:p>
            <a:pPr algn="ctr"/>
            <a:r>
              <a:rPr sz="1300" b="1">
                <a:solidFill>
                  <a:srgbClr val="FFFFFF"/>
                </a:solidFill>
                <a:latin typeface="Helvetica Neue"/>
              </a:rPr>
              <a:t>6</a:t>
            </a:r>
          </a:p>
        </p:txBody>
      </p:sp>
      <p:sp>
        <p:nvSpPr>
          <p:cNvPr id="40" name="TextBox 39"/>
          <p:cNvSpPr txBox="1"/>
          <p:nvPr/>
        </p:nvSpPr>
        <p:spPr>
          <a:xfrm>
            <a:off x="4088053" y="4160520"/>
            <a:ext cx="1756333" cy="731520"/>
          </a:xfrm>
          <a:prstGeom prst="rect">
            <a:avLst/>
          </a:prstGeom>
          <a:noFill/>
        </p:spPr>
        <p:txBody>
          <a:bodyPr wrap="square" lIns="0" rIns="0" tIns="0" bIns="0" anchor="t">
            <a:spAutoFit/>
          </a:bodyPr>
          <a:lstStyle/>
          <a:p>
            <a:pPr algn="l"/>
            <a:r>
              <a:rPr sz="1200" b="1">
                <a:solidFill>
                  <a:srgbClr val="1A1A1A"/>
                </a:solidFill>
                <a:latin typeface="Helvetica Neue"/>
              </a:rPr>
              <a:t>Renewal Intelligence</a:t>
            </a:r>
          </a:p>
        </p:txBody>
      </p:sp>
      <p:sp>
        <p:nvSpPr>
          <p:cNvPr id="41" name="TextBox 40"/>
          <p:cNvSpPr txBox="1"/>
          <p:nvPr/>
        </p:nvSpPr>
        <p:spPr>
          <a:xfrm>
            <a:off x="3493693" y="4800600"/>
            <a:ext cx="2350693" cy="868680"/>
          </a:xfrm>
          <a:prstGeom prst="rect">
            <a:avLst/>
          </a:prstGeom>
          <a:noFill/>
        </p:spPr>
        <p:txBody>
          <a:bodyPr wrap="square" lIns="0" rIns="0" tIns="0" bIns="0" anchor="t">
            <a:spAutoFit/>
          </a:bodyPr>
          <a:lstStyle/>
          <a:p>
            <a:pPr algn="l"/>
            <a:r>
              <a:rPr sz="1000" b="0">
                <a:solidFill>
                  <a:srgbClr val="555555"/>
                </a:solidFill>
                <a:latin typeface="Helvetica Neue"/>
              </a:rPr>
              <a:t>Proactive retention queue from the risk-segmentation model we already have.</a:t>
            </a:r>
          </a:p>
        </p:txBody>
      </p:sp>
      <p:sp>
        <p:nvSpPr>
          <p:cNvPr id="42" name="Rectangle 41"/>
          <p:cNvSpPr/>
          <p:nvPr/>
        </p:nvSpPr>
        <p:spPr>
          <a:xfrm>
            <a:off x="6164427" y="3977640"/>
            <a:ext cx="2716453" cy="1783080"/>
          </a:xfrm>
          <a:prstGeom prst="rect">
            <a:avLst/>
          </a:prstGeom>
          <a:solidFill>
            <a:srgbClr val="F0F4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64427" y="3977640"/>
            <a:ext cx="73152" cy="17830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347307" y="4160520"/>
            <a:ext cx="457200" cy="457200"/>
          </a:xfrm>
          <a:prstGeom prst="ellipse">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47307" y="4187952"/>
            <a:ext cx="457200" cy="411480"/>
          </a:xfrm>
          <a:prstGeom prst="rect">
            <a:avLst/>
          </a:prstGeom>
          <a:noFill/>
        </p:spPr>
        <p:txBody>
          <a:bodyPr wrap="square" lIns="0" rIns="0" tIns="0" bIns="0" anchor="t">
            <a:spAutoFit/>
          </a:bodyPr>
          <a:lstStyle/>
          <a:p>
            <a:pPr algn="ctr"/>
            <a:r>
              <a:rPr sz="1300" b="1">
                <a:solidFill>
                  <a:srgbClr val="FFFFFF"/>
                </a:solidFill>
                <a:latin typeface="Helvetica Neue"/>
              </a:rPr>
              <a:t>7</a:t>
            </a:r>
          </a:p>
        </p:txBody>
      </p:sp>
      <p:sp>
        <p:nvSpPr>
          <p:cNvPr id="46" name="TextBox 45"/>
          <p:cNvSpPr txBox="1"/>
          <p:nvPr/>
        </p:nvSpPr>
        <p:spPr>
          <a:xfrm>
            <a:off x="6941667" y="4160520"/>
            <a:ext cx="1756333" cy="731520"/>
          </a:xfrm>
          <a:prstGeom prst="rect">
            <a:avLst/>
          </a:prstGeom>
          <a:noFill/>
        </p:spPr>
        <p:txBody>
          <a:bodyPr wrap="square" lIns="0" rIns="0" tIns="0" bIns="0" anchor="t">
            <a:spAutoFit/>
          </a:bodyPr>
          <a:lstStyle/>
          <a:p>
            <a:pPr algn="l"/>
            <a:r>
              <a:rPr sz="1200" b="1">
                <a:solidFill>
                  <a:srgbClr val="1A1A1A"/>
                </a:solidFill>
                <a:latin typeface="Helvetica Neue"/>
              </a:rPr>
              <a:t>Agent Copilot</a:t>
            </a:r>
          </a:p>
        </p:txBody>
      </p:sp>
      <p:sp>
        <p:nvSpPr>
          <p:cNvPr id="47" name="TextBox 46"/>
          <p:cNvSpPr txBox="1"/>
          <p:nvPr/>
        </p:nvSpPr>
        <p:spPr>
          <a:xfrm>
            <a:off x="6347307" y="4800600"/>
            <a:ext cx="2350693" cy="868680"/>
          </a:xfrm>
          <a:prstGeom prst="rect">
            <a:avLst/>
          </a:prstGeom>
          <a:noFill/>
        </p:spPr>
        <p:txBody>
          <a:bodyPr wrap="square" lIns="0" rIns="0" tIns="0" bIns="0" anchor="t">
            <a:spAutoFit/>
          </a:bodyPr>
          <a:lstStyle/>
          <a:p>
            <a:pPr algn="l"/>
            <a:r>
              <a:rPr sz="1000" b="0">
                <a:solidFill>
                  <a:srgbClr val="555555"/>
                </a:solidFill>
                <a:latin typeface="Helvetica Neue"/>
              </a:rPr>
              <a:t>The policy Q&amp;A assistant embedded in the call-center workflow with conversation memory.</a:t>
            </a:r>
          </a:p>
        </p:txBody>
      </p:sp>
      <p:sp>
        <p:nvSpPr>
          <p:cNvPr id="48" name="Rectangle 47"/>
          <p:cNvSpPr/>
          <p:nvPr/>
        </p:nvSpPr>
        <p:spPr>
          <a:xfrm>
            <a:off x="9018041" y="3977640"/>
            <a:ext cx="2716453" cy="17830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018041" y="4343400"/>
            <a:ext cx="2716453" cy="548640"/>
          </a:xfrm>
          <a:prstGeom prst="rect">
            <a:avLst/>
          </a:prstGeom>
          <a:noFill/>
        </p:spPr>
        <p:txBody>
          <a:bodyPr wrap="square" lIns="0" rIns="0" tIns="0" bIns="0" anchor="t">
            <a:spAutoFit/>
          </a:bodyPr>
          <a:lstStyle/>
          <a:p>
            <a:pPr algn="ctr"/>
            <a:r>
              <a:rPr sz="2600" b="1">
                <a:solidFill>
                  <a:srgbClr val="FFFFFF"/>
                </a:solidFill>
                <a:latin typeface="Helvetica Neue"/>
              </a:rPr>
              <a:t>Thank you.</a:t>
            </a:r>
          </a:p>
        </p:txBody>
      </p:sp>
      <p:sp>
        <p:nvSpPr>
          <p:cNvPr id="50" name="TextBox 49"/>
          <p:cNvSpPr txBox="1"/>
          <p:nvPr/>
        </p:nvSpPr>
        <p:spPr>
          <a:xfrm>
            <a:off x="9018041" y="4937760"/>
            <a:ext cx="2716453" cy="365760"/>
          </a:xfrm>
          <a:prstGeom prst="rect">
            <a:avLst/>
          </a:prstGeom>
          <a:noFill/>
        </p:spPr>
        <p:txBody>
          <a:bodyPr wrap="square" lIns="0" rIns="0" tIns="0" bIns="0" anchor="t">
            <a:spAutoFit/>
          </a:bodyPr>
          <a:lstStyle/>
          <a:p>
            <a:pPr algn="ctr"/>
            <a:r>
              <a:rPr sz="1400" b="0">
                <a:solidFill>
                  <a:srgbClr val="C8D4E8"/>
                </a:solidFill>
                <a:latin typeface="Helvetica Neue"/>
              </a:rPr>
              <a:t>Questions?</a:t>
            </a:r>
          </a:p>
        </p:txBody>
      </p:sp>
      <p:sp>
        <p:nvSpPr>
          <p:cNvPr id="51" name="TextBox 50"/>
          <p:cNvSpPr txBox="1"/>
          <p:nvPr/>
        </p:nvSpPr>
        <p:spPr>
          <a:xfrm>
            <a:off x="9018041" y="5349240"/>
            <a:ext cx="2716453" cy="320040"/>
          </a:xfrm>
          <a:prstGeom prst="rect">
            <a:avLst/>
          </a:prstGeom>
          <a:noFill/>
        </p:spPr>
        <p:txBody>
          <a:bodyPr wrap="square" lIns="0" rIns="0" tIns="0" bIns="0" anchor="t">
            <a:spAutoFit/>
          </a:bodyPr>
          <a:lstStyle/>
          <a:p>
            <a:pPr algn="ctr"/>
            <a:r>
              <a:rPr sz="900" b="0">
                <a:solidFill>
                  <a:srgbClr val="C8D4E8"/>
                </a:solidFill>
                <a:latin typeface="Helvetica Neue"/>
              </a:rPr>
              <a:t>Jellyfish Technologies</a:t>
            </a:r>
          </a:p>
        </p:txBody>
      </p:sp>
      <p:sp>
        <p:nvSpPr>
          <p:cNvPr id="52" name="TextBox 51"/>
          <p:cNvSpPr txBox="1"/>
          <p:nvPr/>
        </p:nvSpPr>
        <p:spPr>
          <a:xfrm>
            <a:off x="457200" y="6446520"/>
            <a:ext cx="8229600" cy="274320"/>
          </a:xfrm>
          <a:prstGeom prst="rect">
            <a:avLst/>
          </a:prstGeom>
          <a:noFill/>
        </p:spPr>
        <p:txBody>
          <a:bodyPr wrap="square" lIns="0" rIns="0" tIns="0" bIns="0" anchor="t">
            <a:spAutoFit/>
          </a:bodyPr>
          <a:lstStyle/>
          <a:p>
            <a:pPr algn="l"/>
            <a:r>
              <a:rPr sz="900" b="0">
                <a:solidFill>
                  <a:srgbClr val="555555"/>
                </a:solidFill>
                <a:latin typeface="Helvetica Neue"/>
              </a:rPr>
              <a:t>PrimeInsurance Data Intelligence Platform  ·  Jellyfish Technologies</a:t>
            </a:r>
          </a:p>
        </p:txBody>
      </p:sp>
      <p:sp>
        <p:nvSpPr>
          <p:cNvPr id="53" name="TextBox 52"/>
          <p:cNvSpPr txBox="1"/>
          <p:nvPr/>
        </p:nvSpPr>
        <p:spPr>
          <a:xfrm>
            <a:off x="11247120" y="6446520"/>
            <a:ext cx="731520" cy="274320"/>
          </a:xfrm>
          <a:prstGeom prst="rect">
            <a:avLst/>
          </a:prstGeom>
          <a:noFill/>
        </p:spPr>
        <p:txBody>
          <a:bodyPr wrap="square" lIns="0" rIns="0" tIns="0" bIns="0" anchor="t">
            <a:spAutoFit/>
          </a:bodyPr>
          <a:lstStyle/>
          <a:p>
            <a:pPr algn="r"/>
            <a:r>
              <a:rPr sz="900" b="0">
                <a:solidFill>
                  <a:srgbClr val="555555"/>
                </a:solidFill>
                <a:latin typeface="Helvetica Neue"/>
              </a:rP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